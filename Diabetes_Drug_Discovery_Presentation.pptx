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3" r:id="rId5"/>
    <p:sldId id="259" r:id="rId6"/>
    <p:sldId id="260" r:id="rId7"/>
    <p:sldId id="262" r:id="rId8"/>
    <p:sldId id="263" r:id="rId9"/>
    <p:sldId id="264" r:id="rId10"/>
    <p:sldId id="265" r:id="rId11"/>
    <p:sldId id="268" r:id="rId12"/>
    <p:sldId id="270" r:id="rId13"/>
    <p:sldId id="271" r:id="rId14"/>
    <p:sldId id="269" r:id="rId15"/>
    <p:sldId id="272"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53" autoAdjust="0"/>
    <p:restoredTop sz="94660"/>
  </p:normalViewPr>
  <p:slideViewPr>
    <p:cSldViewPr snapToGrid="0">
      <p:cViewPr>
        <p:scale>
          <a:sx n="66" d="100"/>
          <a:sy n="66" d="100"/>
        </p:scale>
        <p:origin x="-155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3985988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980790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375308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1327563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1559180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4073528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3085172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4060905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1361789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4070619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52F9D-F9D7-4CFA-A0BA-C6AD817F6AC4}" type="datetimeFigureOut">
              <a:rPr lang="en-IN" smtClean="0"/>
              <a:pPr/>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C833D4-52B8-4D05-84C0-5317D499F0F3}" type="slidenum">
              <a:rPr lang="en-IN" smtClean="0"/>
              <a:pPr/>
              <a:t>‹#›</a:t>
            </a:fld>
            <a:endParaRPr lang="en-IN"/>
          </a:p>
        </p:txBody>
      </p:sp>
    </p:spTree>
    <p:extLst>
      <p:ext uri="{BB962C8B-B14F-4D97-AF65-F5344CB8AC3E}">
        <p14:creationId xmlns:p14="http://schemas.microsoft.com/office/powerpoint/2010/main" val="2137081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E52F9D-F9D7-4CFA-A0BA-C6AD817F6AC4}" type="datetimeFigureOut">
              <a:rPr lang="en-IN" smtClean="0"/>
              <a:pPr/>
              <a:t>14-11-2024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833D4-52B8-4D05-84C0-5317D499F0F3}" type="slidenum">
              <a:rPr lang="en-IN" smtClean="0"/>
              <a:pPr/>
              <a:t>‹#›</a:t>
            </a:fld>
            <a:endParaRPr lang="en-IN"/>
          </a:p>
        </p:txBody>
      </p:sp>
    </p:spTree>
    <p:extLst>
      <p:ext uri="{BB962C8B-B14F-4D97-AF65-F5344CB8AC3E}">
        <p14:creationId xmlns:p14="http://schemas.microsoft.com/office/powerpoint/2010/main" val="758785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ncbi.nlm.nih.gov/geo/"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2805749D-9D82-FF5F-F598-0F04DED8D3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0753" y="449555"/>
            <a:ext cx="1371600" cy="1362456"/>
          </a:xfrm>
          <a:prstGeom prst="rect">
            <a:avLst/>
          </a:prstGeom>
        </p:spPr>
      </p:pic>
      <p:sp>
        <p:nvSpPr>
          <p:cNvPr id="5" name="Rectangle 4">
            <a:extLst>
              <a:ext uri="{FF2B5EF4-FFF2-40B4-BE49-F238E27FC236}">
                <a16:creationId xmlns="" xmlns:a16="http://schemas.microsoft.com/office/drawing/2014/main" id="{A74FFDD8-CEEA-BC21-EFF1-AA2A5E979906}"/>
              </a:ext>
            </a:extLst>
          </p:cNvPr>
          <p:cNvSpPr/>
          <p:nvPr/>
        </p:nvSpPr>
        <p:spPr>
          <a:xfrm>
            <a:off x="2092236" y="611682"/>
            <a:ext cx="6518364" cy="1200329"/>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UNIVERSITY COLLEGE OF ENGINEERING</a:t>
            </a:r>
          </a:p>
          <a:p>
            <a:pPr algn="ctr"/>
            <a:r>
              <a:rPr lang="en-US" sz="2400" b="1" dirty="0">
                <a:latin typeface="Times New Roman" panose="02020603050405020304" pitchFamily="18" charset="0"/>
                <a:cs typeface="Times New Roman" panose="02020603050405020304" pitchFamily="18" charset="0"/>
              </a:rPr>
              <a:t> ANNA UNIVERSITY, BIT CAMPUS</a:t>
            </a:r>
          </a:p>
          <a:p>
            <a:pPr algn="ctr"/>
            <a:r>
              <a:rPr lang="en-US" sz="2400" b="1" dirty="0">
                <a:latin typeface="Times New Roman" panose="02020603050405020304" pitchFamily="18" charset="0"/>
                <a:cs typeface="Times New Roman" panose="02020603050405020304" pitchFamily="18" charset="0"/>
              </a:rPr>
              <a:t>TRICHY- 620024</a:t>
            </a:r>
            <a:endParaRPr lang="en-IN" sz="2400" b="1" dirty="0">
              <a:latin typeface="Times New Roman" panose="02020603050405020304" pitchFamily="18" charset="0"/>
              <a:cs typeface="Times New Roman" panose="02020603050405020304" pitchFamily="18" charset="0"/>
            </a:endParaRPr>
          </a:p>
        </p:txBody>
      </p:sp>
      <p:sp>
        <p:nvSpPr>
          <p:cNvPr id="6" name="Title 1048646">
            <a:extLst>
              <a:ext uri="{FF2B5EF4-FFF2-40B4-BE49-F238E27FC236}">
                <a16:creationId xmlns="" xmlns:a16="http://schemas.microsoft.com/office/drawing/2014/main" id="{78CDBF94-8EC9-00C5-FCC0-FED141C2FC9B}"/>
              </a:ext>
            </a:extLst>
          </p:cNvPr>
          <p:cNvSpPr txBox="1">
            <a:spLocks/>
          </p:cNvSpPr>
          <p:nvPr/>
        </p:nvSpPr>
        <p:spPr>
          <a:xfrm>
            <a:off x="490550" y="2150752"/>
            <a:ext cx="8257903" cy="5805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spcBef>
                <a:spcPts val="400"/>
              </a:spcBef>
            </a:pPr>
            <a:r>
              <a:rPr lang="en-US" sz="1800" b="1" u="sng" dirty="0">
                <a:solidFill>
                  <a:srgbClr val="FF0000"/>
                </a:solidFill>
                <a:latin typeface="Times New Roman" panose="02020603050405020304" pitchFamily="18" charset="0"/>
                <a:cs typeface="Times New Roman" panose="02020603050405020304" pitchFamily="18" charset="0"/>
              </a:rPr>
              <a:t/>
            </a:r>
            <a:br>
              <a:rPr lang="en-US" sz="1800" b="1" u="sng" dirty="0">
                <a:solidFill>
                  <a:srgbClr val="FF0000"/>
                </a:solidFill>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BT3711-Industrial Training/Internship II</a:t>
            </a:r>
            <a:endParaRPr lang="en-GB" sz="1200" b="1" dirty="0">
              <a:latin typeface="Times New Roman" panose="02020603050405020304" pitchFamily="18" charset="0"/>
              <a:cs typeface="Times New Roman" panose="02020603050405020304" pitchFamily="18" charset="0"/>
            </a:endParaRPr>
          </a:p>
        </p:txBody>
      </p:sp>
      <p:sp>
        <p:nvSpPr>
          <p:cNvPr id="10" name="Slide Number Placeholder 3">
            <a:extLst>
              <a:ext uri="{FF2B5EF4-FFF2-40B4-BE49-F238E27FC236}">
                <a16:creationId xmlns="" xmlns:a16="http://schemas.microsoft.com/office/drawing/2014/main" id="{3BECADD2-1351-5DF0-B1CB-2E7921833AD9}"/>
              </a:ext>
            </a:extLst>
          </p:cNvPr>
          <p:cNvSpPr>
            <a:spLocks noGrp="1"/>
          </p:cNvSpPr>
          <p:nvPr>
            <p:ph type="sldNum" sz="quarter" idx="12"/>
          </p:nvPr>
        </p:nvSpPr>
        <p:spPr>
          <a:xfrm>
            <a:off x="8610600" y="6356350"/>
            <a:ext cx="2743200" cy="365125"/>
          </a:xfrm>
        </p:spPr>
        <p:txBody>
          <a:bodyPr/>
          <a:lstStyle/>
          <a:p>
            <a:fld id="{D5B52ADC-5BFA-4FBD-BEE2-16096B7F4166}" type="slidenum">
              <a:rPr lang="zh-CN" altLang="en-US" sz="800" smtClean="0"/>
              <a:pPr/>
              <a:t>1</a:t>
            </a:fld>
            <a:endParaRPr lang="zh-CN" altLang="en-US" sz="800"/>
          </a:p>
        </p:txBody>
      </p:sp>
      <p:sp>
        <p:nvSpPr>
          <p:cNvPr id="5121" name="Rectangle 1"/>
          <p:cNvSpPr>
            <a:spLocks noChangeArrowheads="1"/>
          </p:cNvSpPr>
          <p:nvPr/>
        </p:nvSpPr>
        <p:spPr bwMode="auto">
          <a:xfrm>
            <a:off x="534389" y="2519042"/>
            <a:ext cx="8288977" cy="3600986"/>
          </a:xfrm>
          <a:prstGeom prst="rect">
            <a:avLst/>
          </a:prstGeom>
          <a:noFill/>
          <a:ln w="9525">
            <a:noFill/>
            <a:miter lim="800000"/>
            <a:headEnd/>
            <a:tailEnd/>
          </a:ln>
          <a:effectLst/>
        </p:spPr>
        <p:txBody>
          <a:bodyPr vert="horz" wrap="square" lIns="228528" tIns="45720" rIns="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US" sz="2000" b="1"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rPr>
              <a:t>Name</a:t>
            </a:r>
            <a:r>
              <a:rPr kumimoji="0" lang="en-US" sz="2000" b="1" i="0" u="none" strike="noStrike" cap="none" normalizeH="0" dirty="0" smtClean="0">
                <a:ln>
                  <a:noFill/>
                </a:ln>
                <a:solidFill>
                  <a:srgbClr val="2D2D2D"/>
                </a:solidFill>
                <a:effectLst/>
                <a:latin typeface="Times New Roman" pitchFamily="18" charset="0"/>
                <a:ea typeface="Times New Roman" pitchFamily="18" charset="0"/>
                <a:cs typeface="Times New Roman" pitchFamily="18" charset="0"/>
              </a:rPr>
              <a:t> (Reg. No.): </a:t>
            </a:r>
            <a:r>
              <a:rPr kumimoji="0" lang="en-US" sz="2000" i="0" u="none" strike="noStrike" cap="none" normalizeH="0" dirty="0" smtClean="0">
                <a:ln>
                  <a:noFill/>
                </a:ln>
                <a:solidFill>
                  <a:srgbClr val="2D2D2D"/>
                </a:solidFill>
                <a:effectLst/>
                <a:latin typeface="Times New Roman" pitchFamily="18" charset="0"/>
                <a:ea typeface="Times New Roman" pitchFamily="18" charset="0"/>
                <a:cs typeface="Times New Roman" pitchFamily="18" charset="0"/>
              </a:rPr>
              <a:t>DEVADHARSHINI S(810021214012)</a:t>
            </a:r>
          </a:p>
          <a:p>
            <a:pPr marL="1889125" marR="0" lvl="0" algn="l" defTabSz="914400" rtl="0" eaLnBrk="0" fontAlgn="base" latinLnBrk="0" hangingPunct="0">
              <a:lnSpc>
                <a:spcPct val="150000"/>
              </a:lnSpc>
              <a:spcBef>
                <a:spcPct val="0"/>
              </a:spcBef>
              <a:spcAft>
                <a:spcPct val="0"/>
              </a:spcAft>
              <a:buClrTx/>
              <a:buSzTx/>
              <a:tabLst/>
            </a:pPr>
            <a:r>
              <a:rPr lang="en-US" sz="2000" dirty="0">
                <a:solidFill>
                  <a:srgbClr val="2D2D2D"/>
                </a:solidFill>
                <a:latin typeface="Times New Roman" pitchFamily="18" charset="0"/>
                <a:ea typeface="Times New Roman" pitchFamily="18" charset="0"/>
                <a:cs typeface="Times New Roman" pitchFamily="18" charset="0"/>
              </a:rPr>
              <a:t> </a:t>
            </a:r>
            <a:r>
              <a:rPr lang="en-US" sz="2000" baseline="0" dirty="0" smtClean="0">
                <a:solidFill>
                  <a:srgbClr val="2D2D2D"/>
                </a:solidFill>
                <a:latin typeface="Times New Roman" pitchFamily="18" charset="0"/>
                <a:ea typeface="Times New Roman" pitchFamily="18" charset="0"/>
                <a:cs typeface="Times New Roman" pitchFamily="18" charset="0"/>
              </a:rPr>
              <a:t>LOKESH S(810021214019)</a:t>
            </a:r>
          </a:p>
          <a:p>
            <a:pPr marL="1889125" marR="0" lvl="0" algn="l" defTabSz="914400" rtl="0" eaLnBrk="0" fontAlgn="base" latinLnBrk="0" hangingPunct="0">
              <a:lnSpc>
                <a:spcPct val="150000"/>
              </a:lnSpc>
              <a:spcBef>
                <a:spcPct val="0"/>
              </a:spcBef>
              <a:spcAft>
                <a:spcPct val="0"/>
              </a:spcAft>
              <a:buClrTx/>
              <a:buSzTx/>
              <a:tabLst/>
            </a:pPr>
            <a:r>
              <a:rPr kumimoji="0" lang="en-US" sz="2000" i="0" u="none" strike="noStrike" cap="none" normalizeH="0" dirty="0" smtClean="0">
                <a:ln>
                  <a:noFill/>
                </a:ln>
                <a:solidFill>
                  <a:srgbClr val="2D2D2D"/>
                </a:solidFill>
                <a:effectLst/>
                <a:latin typeface="Times New Roman" pitchFamily="18" charset="0"/>
                <a:ea typeface="Times New Roman" pitchFamily="18" charset="0"/>
                <a:cs typeface="Times New Roman" pitchFamily="18" charset="0"/>
              </a:rPr>
              <a:t> PRIYADHARSHINI V(810021214023)</a:t>
            </a:r>
            <a:endParaRPr kumimoji="0" lang="en-US" sz="2000"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US" sz="2000" b="1"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rPr>
              <a:t>Class: </a:t>
            </a:r>
            <a:r>
              <a:rPr kumimoji="0" lang="en-US" sz="2000" b="0"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rPr>
              <a:t>B. Tech. Biotechnology (IV</a:t>
            </a:r>
            <a:r>
              <a:rPr kumimoji="0" lang="en-US" sz="2000" b="0" i="0" u="none" strike="noStrike" cap="none" normalizeH="0" dirty="0" smtClean="0">
                <a:ln>
                  <a:noFill/>
                </a:ln>
                <a:solidFill>
                  <a:srgbClr val="2D2D2D"/>
                </a:solidFill>
                <a:effectLst/>
                <a:latin typeface="Times New Roman" pitchFamily="18" charset="0"/>
                <a:ea typeface="Times New Roman" pitchFamily="18" charset="0"/>
                <a:cs typeface="Times New Roman" pitchFamily="18" charset="0"/>
              </a:rPr>
              <a:t> </a:t>
            </a:r>
            <a:r>
              <a:rPr kumimoji="0" lang="en-US" sz="2000" b="0"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rPr>
              <a:t>yr / VII </a:t>
            </a:r>
            <a:r>
              <a:rPr kumimoji="0" lang="en-US" sz="2000" b="0" i="0" u="none" strike="noStrike" cap="none" normalizeH="0" baseline="0" dirty="0" err="1" smtClean="0">
                <a:ln>
                  <a:noFill/>
                </a:ln>
                <a:solidFill>
                  <a:srgbClr val="2D2D2D"/>
                </a:solidFill>
                <a:effectLst/>
                <a:latin typeface="Times New Roman" pitchFamily="18" charset="0"/>
                <a:ea typeface="Times New Roman" pitchFamily="18" charset="0"/>
                <a:cs typeface="Times New Roman" pitchFamily="18" charset="0"/>
              </a:rPr>
              <a:t>sem</a:t>
            </a:r>
            <a:r>
              <a:rPr kumimoji="0" lang="en-US" sz="2000" b="0"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rPr>
              <a:t>)</a:t>
            </a:r>
          </a:p>
          <a:p>
            <a:pPr lvl="0" defTabSz="914400" eaLnBrk="0" fontAlgn="base" hangingPunct="0">
              <a:lnSpc>
                <a:spcPct val="150000"/>
              </a:lnSpc>
              <a:spcBef>
                <a:spcPct val="0"/>
              </a:spcBef>
              <a:spcAft>
                <a:spcPct val="0"/>
              </a:spcAft>
            </a:pPr>
            <a:r>
              <a:rPr kumimoji="0" lang="en-US" sz="2000" b="1"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rPr>
              <a:t>Internship period: </a:t>
            </a:r>
            <a:r>
              <a:rPr lang="en-US" sz="2000" dirty="0" smtClean="0">
                <a:solidFill>
                  <a:srgbClr val="2D2D2D"/>
                </a:solidFill>
                <a:latin typeface="Times New Roman" pitchFamily="18" charset="0"/>
                <a:ea typeface="Times New Roman" pitchFamily="18" charset="0"/>
                <a:cs typeface="Times New Roman" pitchFamily="18" charset="0"/>
              </a:rPr>
              <a:t>24</a:t>
            </a:r>
            <a:r>
              <a:rPr kumimoji="0" lang="en-US" sz="2000" b="0"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rPr>
              <a:t>/06/2024 - </a:t>
            </a:r>
            <a:r>
              <a:rPr lang="en-US" sz="2000" dirty="0" smtClean="0">
                <a:solidFill>
                  <a:srgbClr val="2D2D2D"/>
                </a:solidFill>
                <a:latin typeface="Times New Roman" pitchFamily="18" charset="0"/>
                <a:ea typeface="Times New Roman" pitchFamily="18" charset="0"/>
                <a:cs typeface="Times New Roman" pitchFamily="18" charset="0"/>
              </a:rPr>
              <a:t>24/07/24</a:t>
            </a:r>
            <a:endParaRPr kumimoji="0" lang="en-US" sz="2000" b="0"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endParaRPr>
          </a:p>
          <a:p>
            <a:pPr defTabSz="914400" eaLnBrk="0" fontAlgn="base" hangingPunct="0">
              <a:lnSpc>
                <a:spcPct val="150000"/>
              </a:lnSpc>
              <a:spcBef>
                <a:spcPct val="0"/>
              </a:spcBef>
              <a:spcAft>
                <a:spcPct val="0"/>
              </a:spcAft>
            </a:pPr>
            <a:r>
              <a:rPr kumimoji="0" lang="en-US" sz="2000" b="1" i="0" u="none" strike="noStrike" cap="none" normalizeH="0" baseline="0" dirty="0" smtClean="0">
                <a:ln>
                  <a:noFill/>
                </a:ln>
                <a:solidFill>
                  <a:srgbClr val="2D2D2D"/>
                </a:solidFill>
                <a:effectLst/>
                <a:latin typeface="Times New Roman" pitchFamily="18" charset="0"/>
                <a:ea typeface="Times New Roman" pitchFamily="18" charset="0"/>
                <a:cs typeface="Times New Roman" pitchFamily="18" charset="0"/>
              </a:rPr>
              <a:t>Internship Organization: </a:t>
            </a:r>
            <a:r>
              <a:rPr lang="en-IN" sz="2000" dirty="0">
                <a:latin typeface="Times New Roman" pitchFamily="18" charset="0"/>
                <a:cs typeface="Times New Roman" pitchFamily="18" charset="0"/>
              </a:rPr>
              <a:t>Scinicorn Labs Private </a:t>
            </a:r>
            <a:r>
              <a:rPr lang="en-IN" sz="2000" dirty="0" smtClean="0">
                <a:latin typeface="Times New Roman" pitchFamily="18" charset="0"/>
                <a:cs typeface="Times New Roman" pitchFamily="18" charset="0"/>
              </a:rPr>
              <a:t>Limited, </a:t>
            </a:r>
            <a:r>
              <a:rPr lang="en-IN" sz="2000" dirty="0" err="1" smtClean="0">
                <a:latin typeface="Times New Roman" pitchFamily="18" charset="0"/>
                <a:cs typeface="Times New Roman" pitchFamily="18" charset="0"/>
              </a:rPr>
              <a:t>Marthandam</a:t>
            </a:r>
            <a:endParaRPr kumimoji="0" lang="en-US" sz="2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127559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1E25E9-37F6-3083-C921-7B2F69B7C889}"/>
              </a:ext>
            </a:extLst>
          </p:cNvPr>
          <p:cNvSpPr>
            <a:spLocks noGrp="1"/>
          </p:cNvSpPr>
          <p:nvPr>
            <p:ph type="title"/>
          </p:nvPr>
        </p:nvSpPr>
        <p:spPr>
          <a:xfrm>
            <a:off x="1257300" y="196638"/>
            <a:ext cx="7886700" cy="656152"/>
          </a:xfrm>
        </p:spPr>
        <p:txBody>
          <a:bodyPr>
            <a:normAutofit/>
          </a:bodyPr>
          <a:lstStyle/>
          <a:p>
            <a:pPr algn="ctr"/>
            <a:r>
              <a:rPr lang="en-US" sz="2800" b="1" dirty="0" smtClean="0">
                <a:latin typeface="Times New Roman" pitchFamily="18" charset="0"/>
                <a:cs typeface="Times New Roman" pitchFamily="18" charset="0"/>
              </a:rPr>
              <a:t>INFORMATION ABOUT THE COMPANY</a:t>
            </a:r>
            <a:endParaRPr lang="en-US" sz="2800" b="1" dirty="0">
              <a:latin typeface="Times New Roman" pitchFamily="18" charset="0"/>
              <a:cs typeface="Times New Roman" pitchFamily="18" charset="0"/>
            </a:endParaRPr>
          </a:p>
        </p:txBody>
      </p:sp>
      <p:sp>
        <p:nvSpPr>
          <p:cNvPr id="3" name="TextBox 2"/>
          <p:cNvSpPr txBox="1"/>
          <p:nvPr/>
        </p:nvSpPr>
        <p:spPr>
          <a:xfrm>
            <a:off x="730199" y="1511828"/>
            <a:ext cx="7784213" cy="5144998"/>
          </a:xfrm>
          <a:prstGeom prst="rect">
            <a:avLst/>
          </a:prstGeom>
          <a:noFill/>
        </p:spPr>
        <p:txBody>
          <a:bodyPr wrap="square" rtlCol="0">
            <a:spAutoFit/>
          </a:bodyPr>
          <a:lstStyle/>
          <a:p>
            <a:pPr algn="just">
              <a:lnSpc>
                <a:spcPct val="114000"/>
              </a:lnSpc>
            </a:pPr>
            <a:r>
              <a:rPr lang="en-IN" dirty="0">
                <a:latin typeface="Times New Roman" pitchFamily="18" charset="0"/>
                <a:cs typeface="Times New Roman" pitchFamily="18" charset="0"/>
              </a:rPr>
              <a:t>Scinicorn Labs Private Limited is a cutting-edge biotechnology company specializing in comprehensive services across various domains, including food and agriculture testing, plant tissue culture production, biopolymer production, and </a:t>
            </a:r>
            <a:r>
              <a:rPr lang="en-IN" dirty="0" err="1">
                <a:latin typeface="Times New Roman" pitchFamily="18" charset="0"/>
                <a:cs typeface="Times New Roman" pitchFamily="18" charset="0"/>
              </a:rPr>
              <a:t>omics</a:t>
            </a:r>
            <a:r>
              <a:rPr lang="en-IN" dirty="0">
                <a:latin typeface="Times New Roman" pitchFamily="18" charset="0"/>
                <a:cs typeface="Times New Roman" pitchFamily="18" charset="0"/>
              </a:rPr>
              <a:t> services. With a strong </a:t>
            </a:r>
            <a:r>
              <a:rPr lang="en-IN" dirty="0" smtClean="0">
                <a:latin typeface="Times New Roman" pitchFamily="18" charset="0"/>
                <a:cs typeface="Times New Roman" pitchFamily="18" charset="0"/>
              </a:rPr>
              <a:t>commitment </a:t>
            </a:r>
            <a:r>
              <a:rPr lang="en-IN" dirty="0">
                <a:latin typeface="Times New Roman" pitchFamily="18" charset="0"/>
                <a:cs typeface="Times New Roman" pitchFamily="18" charset="0"/>
              </a:rPr>
              <a:t>to quality and innovation, Scinicorn Labs aims to support and enhance the capabilities of the biotech industry through state-of-the-art facilities and expert services. The company is recognized by the Department for Promotion of Industry and Internal Trade (DPIIT) and registered with the Ministry of Corporate Affairs, underscoring its credibility and commitment to </a:t>
            </a:r>
            <a:r>
              <a:rPr lang="en-IN" dirty="0" smtClean="0">
                <a:latin typeface="Times New Roman" pitchFamily="18" charset="0"/>
                <a:cs typeface="Times New Roman" pitchFamily="18" charset="0"/>
              </a:rPr>
              <a:t>excellence. </a:t>
            </a:r>
            <a:r>
              <a:rPr lang="en-IN" dirty="0">
                <a:latin typeface="Times New Roman" pitchFamily="18" charset="0"/>
                <a:cs typeface="Times New Roman" pitchFamily="18" charset="0"/>
              </a:rPr>
              <a:t>They provide advanced proteomic analysis to identify and quantify proteins in biological samples, conduct </a:t>
            </a:r>
            <a:r>
              <a:rPr lang="en-IN" dirty="0" err="1">
                <a:latin typeface="Times New Roman" pitchFamily="18" charset="0"/>
                <a:cs typeface="Times New Roman" pitchFamily="18" charset="0"/>
              </a:rPr>
              <a:t>metabolomic</a:t>
            </a:r>
            <a:r>
              <a:rPr lang="en-IN" dirty="0">
                <a:latin typeface="Times New Roman" pitchFamily="18" charset="0"/>
                <a:cs typeface="Times New Roman" pitchFamily="18" charset="0"/>
              </a:rPr>
              <a:t> studies to </a:t>
            </a:r>
            <a:r>
              <a:rPr lang="en-IN" dirty="0" err="1">
                <a:latin typeface="Times New Roman" pitchFamily="18" charset="0"/>
                <a:cs typeface="Times New Roman" pitchFamily="18" charset="0"/>
              </a:rPr>
              <a:t>analyze</a:t>
            </a:r>
            <a:r>
              <a:rPr lang="en-IN" dirty="0">
                <a:latin typeface="Times New Roman" pitchFamily="18" charset="0"/>
                <a:cs typeface="Times New Roman" pitchFamily="18" charset="0"/>
              </a:rPr>
              <a:t> the metabolic profiles of organisms, and utilize sophisticated bioinformatics tools and techniques to interpret complex </a:t>
            </a:r>
            <a:r>
              <a:rPr lang="en-IN" dirty="0" err="1">
                <a:latin typeface="Times New Roman" pitchFamily="18" charset="0"/>
                <a:cs typeface="Times New Roman" pitchFamily="18" charset="0"/>
              </a:rPr>
              <a:t>omics</a:t>
            </a:r>
            <a:r>
              <a:rPr lang="en-IN" dirty="0">
                <a:latin typeface="Times New Roman" pitchFamily="18" charset="0"/>
                <a:cs typeface="Times New Roman" pitchFamily="18" charset="0"/>
              </a:rPr>
              <a:t> data and provide actionable insights</a:t>
            </a:r>
            <a:r>
              <a:rPr lang="en-IN" dirty="0" smtClean="0">
                <a:latin typeface="Times New Roman" pitchFamily="18" charset="0"/>
                <a:cs typeface="Times New Roman" pitchFamily="18" charset="0"/>
              </a:rPr>
              <a:t>. </a:t>
            </a:r>
            <a:r>
              <a:rPr lang="en-IN" dirty="0">
                <a:latin typeface="Times New Roman" pitchFamily="18" charset="0"/>
                <a:cs typeface="Times New Roman" pitchFamily="18" charset="0"/>
              </a:rPr>
              <a:t>We are also in to research in development and production of biodegradable polymers from renewable resources.</a:t>
            </a:r>
          </a:p>
          <a:p>
            <a:pPr algn="just">
              <a:lnSpc>
                <a:spcPct val="114000"/>
              </a:lnSpc>
            </a:pPr>
            <a:endParaRPr lang="en-IN" dirty="0">
              <a:latin typeface="Times New Roman" pitchFamily="18" charset="0"/>
              <a:cs typeface="Times New Roman" pitchFamily="18" charset="0"/>
            </a:endParaRPr>
          </a:p>
          <a:p>
            <a:pPr algn="just">
              <a:lnSpc>
                <a:spcPct val="114000"/>
              </a:lnSpc>
            </a:pPr>
            <a:endParaRPr lang="en-IN" dirty="0">
              <a:latin typeface="Times New Roman" pitchFamily="18" charset="0"/>
              <a:cs typeface="Times New Roman" pitchFamily="18" charset="0"/>
            </a:endParaRPr>
          </a:p>
        </p:txBody>
      </p:sp>
      <p:sp>
        <p:nvSpPr>
          <p:cNvPr id="4" name="AutoShape 2" descr="scinicorn lab marthandam from m.facebook.co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100" name="Picture 4" descr="Scinicorn 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4" y="169256"/>
            <a:ext cx="1658711" cy="683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027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727AFA-0BCF-9DD4-BE75-B0051ACB6E5E}"/>
              </a:ext>
            </a:extLst>
          </p:cNvPr>
          <p:cNvSpPr>
            <a:spLocks noGrp="1"/>
          </p:cNvSpPr>
          <p:nvPr>
            <p:ph type="title"/>
          </p:nvPr>
        </p:nvSpPr>
        <p:spPr>
          <a:xfrm>
            <a:off x="749975" y="299803"/>
            <a:ext cx="7886700" cy="814388"/>
          </a:xfrm>
        </p:spPr>
        <p:txBody>
          <a:bodyPr>
            <a:noAutofit/>
          </a:bodyPr>
          <a:lstStyle/>
          <a:p>
            <a:pPr>
              <a:lnSpc>
                <a:spcPct val="150000"/>
              </a:lnSpc>
            </a:pPr>
            <a:r>
              <a:rPr lang="en-US" sz="4000" dirty="0"/>
              <a:t>Role and Responsibilities as a Trainee</a:t>
            </a:r>
            <a:endParaRPr lang="en-US" sz="4000" dirty="0">
              <a:latin typeface="Times New Roman" pitchFamily="18" charset="0"/>
              <a:cs typeface="Times New Roman" pitchFamily="18" charset="0"/>
            </a:endParaRPr>
          </a:p>
        </p:txBody>
      </p:sp>
      <p:sp>
        <p:nvSpPr>
          <p:cNvPr id="3" name="TextBox 2"/>
          <p:cNvSpPr txBox="1"/>
          <p:nvPr/>
        </p:nvSpPr>
        <p:spPr>
          <a:xfrm>
            <a:off x="600073" y="1385174"/>
            <a:ext cx="7843839" cy="4633576"/>
          </a:xfrm>
          <a:prstGeom prst="rect">
            <a:avLst/>
          </a:prstGeom>
          <a:noFill/>
        </p:spPr>
        <p:txBody>
          <a:bodyPr wrap="square" rtlCol="0">
            <a:spAutoFit/>
          </a:bodyPr>
          <a:lstStyle/>
          <a:p>
            <a:pPr algn="just">
              <a:lnSpc>
                <a:spcPct val="114000"/>
              </a:lnSpc>
            </a:pPr>
            <a:r>
              <a:rPr lang="en-US" sz="2000" dirty="0">
                <a:latin typeface="Times New Roman" pitchFamily="18" charset="0"/>
                <a:cs typeface="Times New Roman" pitchFamily="18" charset="0"/>
              </a:rPr>
              <a:t>As a </a:t>
            </a:r>
            <a:r>
              <a:rPr lang="en-US" sz="2000" b="1" dirty="0">
                <a:latin typeface="Times New Roman" pitchFamily="18" charset="0"/>
                <a:cs typeface="Times New Roman" pitchFamily="18" charset="0"/>
              </a:rPr>
              <a:t>Trainee</a:t>
            </a:r>
            <a:r>
              <a:rPr lang="en-US" sz="2000" dirty="0">
                <a:latin typeface="Times New Roman" pitchFamily="18" charset="0"/>
                <a:cs typeface="Times New Roman" pitchFamily="18" charset="0"/>
              </a:rPr>
              <a:t>, M</a:t>
            </a:r>
            <a:r>
              <a:rPr lang="en-US" sz="2000" dirty="0" smtClean="0">
                <a:latin typeface="Times New Roman" pitchFamily="18" charset="0"/>
                <a:cs typeface="Times New Roman" pitchFamily="18" charset="0"/>
              </a:rPr>
              <a:t>y position </a:t>
            </a:r>
            <a:r>
              <a:rPr lang="en-US" sz="2000" dirty="0">
                <a:latin typeface="Times New Roman" pitchFamily="18" charset="0"/>
                <a:cs typeface="Times New Roman" pitchFamily="18" charset="0"/>
              </a:rPr>
              <a:t>involves gaining hands-on experience and developing expertise in</a:t>
            </a:r>
            <a:r>
              <a:rPr lang="en-US" sz="2000" dirty="0" smtClean="0">
                <a:latin typeface="Times New Roman" pitchFamily="18" charset="0"/>
                <a:cs typeface="Times New Roman" pitchFamily="18" charset="0"/>
              </a:rPr>
              <a:t>:</a:t>
            </a:r>
          </a:p>
          <a:p>
            <a:pPr marL="342900" indent="-342900" algn="just">
              <a:lnSpc>
                <a:spcPct val="114000"/>
              </a:lnSpc>
              <a:buFont typeface="Arial" pitchFamily="34" charset="0"/>
              <a:buChar char="•"/>
            </a:pPr>
            <a:r>
              <a:rPr lang="en-US" sz="2000" b="1" dirty="0" smtClean="0"/>
              <a:t>Disease </a:t>
            </a:r>
            <a:r>
              <a:rPr lang="en-US" sz="2000" b="1" dirty="0"/>
              <a:t>Analysis Using R-Programming</a:t>
            </a:r>
            <a:r>
              <a:rPr lang="en-US" sz="2000" dirty="0"/>
              <a:t>: Learning to use R for analyzing health data, identifying disease trends, and creating visual representations to support research findings</a:t>
            </a:r>
            <a:r>
              <a:rPr lang="en-US" sz="2000" dirty="0" smtClean="0"/>
              <a:t>.</a:t>
            </a:r>
            <a:r>
              <a:rPr lang="en-US" sz="2000" b="1" dirty="0"/>
              <a:t> </a:t>
            </a:r>
            <a:endParaRPr lang="en-US" sz="2000" b="1" dirty="0" smtClean="0"/>
          </a:p>
          <a:p>
            <a:pPr marL="342900" indent="-342900" algn="just">
              <a:lnSpc>
                <a:spcPct val="114000"/>
              </a:lnSpc>
              <a:buFont typeface="Arial" pitchFamily="34" charset="0"/>
              <a:buChar char="•"/>
            </a:pPr>
            <a:r>
              <a:rPr lang="en-US" sz="2000" b="1" dirty="0" err="1"/>
              <a:t>Phyto</a:t>
            </a:r>
            <a:r>
              <a:rPr lang="en-US" sz="2000" b="1" dirty="0"/>
              <a:t>-Compound Analysis</a:t>
            </a:r>
            <a:r>
              <a:rPr lang="en-US" sz="2000" dirty="0"/>
              <a:t>: Acquiring skills in analyzing plant-based compounds, understanding their properties, and exploring their potential applications in disease treatment</a:t>
            </a:r>
            <a:r>
              <a:rPr lang="en-US" sz="2000" dirty="0" smtClean="0"/>
              <a:t>.</a:t>
            </a:r>
          </a:p>
          <a:p>
            <a:pPr marL="342900" indent="-342900" algn="just">
              <a:lnSpc>
                <a:spcPct val="114000"/>
              </a:lnSpc>
              <a:buFont typeface="Arial" pitchFamily="34" charset="0"/>
              <a:buChar char="•"/>
            </a:pPr>
            <a:r>
              <a:rPr lang="en-US" sz="2000" b="1" dirty="0"/>
              <a:t>Molecular Docking</a:t>
            </a:r>
            <a:r>
              <a:rPr lang="en-US" sz="2000" dirty="0"/>
              <a:t>: Training in computational techniques to study molecular interactions, predict drug efficacy, and understand biological mechanisms at a molecular level</a:t>
            </a:r>
            <a:r>
              <a:rPr lang="en-US" sz="2000" dirty="0" smtClean="0"/>
              <a:t>.</a:t>
            </a:r>
          </a:p>
          <a:p>
            <a:pPr algn="just">
              <a:lnSpc>
                <a:spcPct val="114000"/>
              </a:lnSpc>
            </a:pPr>
            <a:r>
              <a:rPr lang="en-US" sz="2000" dirty="0"/>
              <a:t>This blend of computational and biochemical work contributes to advancements in healthcare and research.</a:t>
            </a:r>
            <a:endParaRPr lang="en-IN" sz="2000" dirty="0"/>
          </a:p>
        </p:txBody>
      </p:sp>
    </p:spTree>
    <p:extLst>
      <p:ext uri="{BB962C8B-B14F-4D97-AF65-F5344CB8AC3E}">
        <p14:creationId xmlns:p14="http://schemas.microsoft.com/office/powerpoint/2010/main" val="2096078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IN" dirty="0"/>
          </a:p>
        </p:txBody>
      </p:sp>
      <p:sp>
        <p:nvSpPr>
          <p:cNvPr id="3" name="Content Placeholder 2"/>
          <p:cNvSpPr>
            <a:spLocks noGrp="1"/>
          </p:cNvSpPr>
          <p:nvPr>
            <p:ph idx="1"/>
          </p:nvPr>
        </p:nvSpPr>
        <p:spPr/>
        <p:txBody>
          <a:bodyPr/>
          <a:lstStyle/>
          <a:p>
            <a:pPr algn="just">
              <a:lnSpc>
                <a:spcPct val="114000"/>
              </a:lnSpc>
            </a:pPr>
            <a:r>
              <a:rPr lang="en-US" sz="1800" dirty="0">
                <a:latin typeface="Times New Roman" pitchFamily="18" charset="0"/>
                <a:cs typeface="Times New Roman" pitchFamily="18" charset="0"/>
              </a:rPr>
              <a:t>To leverage computational tools and methodologies, such as R-programming and molecular docking, for analyzing disease pathways and interactions. </a:t>
            </a:r>
            <a:endParaRPr lang="en-US" sz="1800" dirty="0" smtClean="0">
              <a:latin typeface="Times New Roman" pitchFamily="18" charset="0"/>
              <a:cs typeface="Times New Roman" pitchFamily="18" charset="0"/>
            </a:endParaRPr>
          </a:p>
          <a:p>
            <a:pPr algn="just">
              <a:lnSpc>
                <a:spcPct val="114000"/>
              </a:lnSpc>
            </a:pPr>
            <a:r>
              <a:rPr lang="en-US" sz="1800" dirty="0" smtClean="0">
                <a:latin typeface="Times New Roman" pitchFamily="18" charset="0"/>
                <a:cs typeface="Times New Roman" pitchFamily="18" charset="0"/>
              </a:rPr>
              <a:t>To identify </a:t>
            </a:r>
            <a:r>
              <a:rPr lang="en-US" sz="1800" dirty="0">
                <a:latin typeface="Times New Roman" pitchFamily="18" charset="0"/>
                <a:cs typeface="Times New Roman" pitchFamily="18" charset="0"/>
              </a:rPr>
              <a:t>potential therapeutic </a:t>
            </a:r>
            <a:r>
              <a:rPr lang="en-US" sz="1800" dirty="0" err="1">
                <a:latin typeface="Times New Roman" pitchFamily="18" charset="0"/>
                <a:cs typeface="Times New Roman" pitchFamily="18" charset="0"/>
              </a:rPr>
              <a:t>phyto</a:t>
            </a:r>
            <a:r>
              <a:rPr lang="en-US" sz="1800" dirty="0">
                <a:latin typeface="Times New Roman" pitchFamily="18" charset="0"/>
                <a:cs typeface="Times New Roman" pitchFamily="18" charset="0"/>
              </a:rPr>
              <a:t>-compounds and understanding their molecular mechanisms, while enhancing my technical and analytical skills </a:t>
            </a:r>
            <a:r>
              <a:rPr lang="en-US" sz="1800" dirty="0" smtClean="0">
                <a:latin typeface="Times New Roman" pitchFamily="18" charset="0"/>
                <a:cs typeface="Times New Roman" pitchFamily="18" charset="0"/>
              </a:rPr>
              <a:t>to </a:t>
            </a:r>
            <a:r>
              <a:rPr lang="en-US" sz="1800" dirty="0">
                <a:latin typeface="Times New Roman" pitchFamily="18" charset="0"/>
                <a:cs typeface="Times New Roman" pitchFamily="18" charset="0"/>
              </a:rPr>
              <a:t>contribute to innovative solutions in disease treatment and drug discovery.</a:t>
            </a:r>
            <a:endParaRPr lang="en-IN" sz="1800" dirty="0">
              <a:latin typeface="Times New Roman" pitchFamily="18" charset="0"/>
              <a:cs typeface="Times New Roman" pitchFamily="18" charset="0"/>
            </a:endParaRPr>
          </a:p>
          <a:p>
            <a:pPr algn="just">
              <a:lnSpc>
                <a:spcPct val="114000"/>
              </a:lnSpc>
            </a:pPr>
            <a:endParaRPr lang="en-IN" dirty="0"/>
          </a:p>
        </p:txBody>
      </p:sp>
    </p:spTree>
    <p:extLst>
      <p:ext uri="{BB962C8B-B14F-4D97-AF65-F5344CB8AC3E}">
        <p14:creationId xmlns:p14="http://schemas.microsoft.com/office/powerpoint/2010/main" val="3179418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DBDB76-93D4-58EC-41C1-9BF7387EB57A}"/>
              </a:ext>
            </a:extLst>
          </p:cNvPr>
          <p:cNvSpPr>
            <a:spLocks noGrp="1"/>
          </p:cNvSpPr>
          <p:nvPr>
            <p:ph type="title"/>
          </p:nvPr>
        </p:nvSpPr>
        <p:spPr>
          <a:xfrm>
            <a:off x="-347765" y="107314"/>
            <a:ext cx="10130394" cy="1325563"/>
          </a:xfrm>
        </p:spPr>
        <p:txBody>
          <a:bodyPr>
            <a:normAutofit fontScale="90000"/>
          </a:bodyPr>
          <a:lstStyle/>
          <a:p>
            <a:pPr algn="ct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t>Internship Reflections: Skills, </a:t>
            </a:r>
            <a:r>
              <a:rPr lang="en-US" dirty="0" smtClean="0"/>
              <a:t>Challenges</a:t>
            </a:r>
            <a:br>
              <a:rPr lang="en-US" dirty="0" smtClean="0"/>
            </a:br>
            <a:endParaRPr lang="en-US" dirty="0"/>
          </a:p>
        </p:txBody>
      </p:sp>
      <p:sp>
        <p:nvSpPr>
          <p:cNvPr id="3" name="TextBox 2"/>
          <p:cNvSpPr txBox="1"/>
          <p:nvPr/>
        </p:nvSpPr>
        <p:spPr>
          <a:xfrm>
            <a:off x="900113" y="1432877"/>
            <a:ext cx="7372350" cy="4513415"/>
          </a:xfrm>
          <a:prstGeom prst="rect">
            <a:avLst/>
          </a:prstGeom>
          <a:noFill/>
        </p:spPr>
        <p:txBody>
          <a:bodyPr wrap="square" rtlCol="0">
            <a:spAutoFit/>
          </a:bodyPr>
          <a:lstStyle/>
          <a:p>
            <a:pPr marL="285750" indent="-285750" algn="just">
              <a:lnSpc>
                <a:spcPct val="114000"/>
              </a:lnSpc>
              <a:buFont typeface="Arial" pitchFamily="34" charset="0"/>
              <a:buChar char="•"/>
            </a:pPr>
            <a:r>
              <a:rPr lang="en-US" dirty="0" smtClean="0">
                <a:latin typeface="Times New Roman" pitchFamily="18" charset="0"/>
                <a:cs typeface="Times New Roman" pitchFamily="18" charset="0"/>
              </a:rPr>
              <a:t>Sample </a:t>
            </a:r>
            <a:r>
              <a:rPr lang="en-US" dirty="0">
                <a:latin typeface="Times New Roman" pitchFamily="18" charset="0"/>
                <a:cs typeface="Times New Roman" pitchFamily="18" charset="0"/>
              </a:rPr>
              <a:t>data taken from </a:t>
            </a:r>
            <a:r>
              <a:rPr lang="en-US" dirty="0" smtClean="0">
                <a:latin typeface="Times New Roman" pitchFamily="18" charset="0"/>
                <a:cs typeface="Times New Roman" pitchFamily="18" charset="0"/>
              </a:rPr>
              <a:t>GEO (</a:t>
            </a:r>
            <a:r>
              <a:rPr lang="en-US" u="sng" dirty="0" smtClean="0">
                <a:latin typeface="Times New Roman" pitchFamily="18" charset="0"/>
                <a:cs typeface="Times New Roman" pitchFamily="18" charset="0"/>
                <a:hlinkClick r:id="rId2"/>
              </a:rPr>
              <a:t>https</a:t>
            </a:r>
            <a:r>
              <a:rPr lang="en-US" u="sng" dirty="0">
                <a:latin typeface="Times New Roman" pitchFamily="18" charset="0"/>
                <a:cs typeface="Times New Roman" pitchFamily="18" charset="0"/>
                <a:hlinkClick r:id="rId2"/>
              </a:rPr>
              <a:t>://www.ncbi.nlm.nih.gov/geo/</a:t>
            </a:r>
            <a:r>
              <a:rPr lang="en-US" dirty="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marL="285750" indent="-285750" algn="just">
              <a:lnSpc>
                <a:spcPct val="114000"/>
              </a:lnSpc>
              <a:buFont typeface="Arial" pitchFamily="34" charset="0"/>
              <a:buChar char="•"/>
            </a:pPr>
            <a:r>
              <a:rPr lang="en-US" dirty="0" smtClean="0">
                <a:latin typeface="Times New Roman" pitchFamily="18" charset="0"/>
                <a:cs typeface="Times New Roman" pitchFamily="18" charset="0"/>
              </a:rPr>
              <a:t>Diabetes </a:t>
            </a:r>
            <a:r>
              <a:rPr lang="en-US" dirty="0">
                <a:latin typeface="Times New Roman" pitchFamily="18" charset="0"/>
                <a:cs typeface="Times New Roman" pitchFamily="18" charset="0"/>
              </a:rPr>
              <a:t>genes were identified using differentially expressed gene analysis in R-studio programming. Using R-studio, we assessed the quality of the genes and normalized the </a:t>
            </a:r>
            <a:r>
              <a:rPr lang="en-US" dirty="0" smtClean="0">
                <a:latin typeface="Times New Roman" pitchFamily="18" charset="0"/>
                <a:cs typeface="Times New Roman" pitchFamily="18" charset="0"/>
              </a:rPr>
              <a:t>data.</a:t>
            </a:r>
          </a:p>
          <a:p>
            <a:pPr marL="285750" indent="-285750" algn="just">
              <a:lnSpc>
                <a:spcPct val="114000"/>
              </a:lnSpc>
              <a:buFont typeface="Arial" pitchFamily="34" charset="0"/>
              <a:buChar char="•"/>
            </a:pPr>
            <a:r>
              <a:rPr lang="en-US" dirty="0" smtClean="0">
                <a:latin typeface="Times New Roman" pitchFamily="18" charset="0"/>
                <a:cs typeface="Times New Roman" pitchFamily="18" charset="0"/>
              </a:rPr>
              <a:t>Analyzed the review </a:t>
            </a:r>
            <a:r>
              <a:rPr lang="en-US" dirty="0">
                <a:latin typeface="Times New Roman" pitchFamily="18" charset="0"/>
                <a:cs typeface="Times New Roman" pitchFamily="18" charset="0"/>
              </a:rPr>
              <a:t>articles to select </a:t>
            </a:r>
            <a:r>
              <a:rPr lang="en-US" dirty="0" err="1" smtClean="0">
                <a:latin typeface="Times New Roman" pitchFamily="18" charset="0"/>
                <a:cs typeface="Times New Roman" pitchFamily="18" charset="0"/>
              </a:rPr>
              <a:t>phyto</a:t>
            </a:r>
            <a:r>
              <a:rPr lang="en-US" dirty="0" smtClean="0">
                <a:latin typeface="Times New Roman" pitchFamily="18" charset="0"/>
                <a:cs typeface="Times New Roman" pitchFamily="18" charset="0"/>
              </a:rPr>
              <a:t>-compounds </a:t>
            </a:r>
            <a:r>
              <a:rPr lang="en-US" dirty="0">
                <a:latin typeface="Times New Roman" pitchFamily="18" charset="0"/>
                <a:cs typeface="Times New Roman" pitchFamily="18" charset="0"/>
              </a:rPr>
              <a:t>and analyze them using IMPAT and ADMET tools to assess drug-likeness and pharmacokinetics. These compounds undergo molecular docking to evaluate their interactions with target proteins and potential therapeutic efficacy.</a:t>
            </a:r>
            <a:endParaRPr lang="en-US" dirty="0" smtClean="0">
              <a:latin typeface="Times New Roman" pitchFamily="18" charset="0"/>
              <a:cs typeface="Times New Roman" pitchFamily="18" charset="0"/>
            </a:endParaRPr>
          </a:p>
          <a:p>
            <a:pPr algn="just">
              <a:lnSpc>
                <a:spcPct val="114000"/>
              </a:lnSpc>
            </a:pPr>
            <a:r>
              <a:rPr lang="en-US" b="1" dirty="0" smtClean="0">
                <a:latin typeface="Times New Roman" pitchFamily="18" charset="0"/>
                <a:cs typeface="Times New Roman" pitchFamily="18" charset="0"/>
              </a:rPr>
              <a:t>CHALLENGES ENCOUNTERED</a:t>
            </a:r>
            <a:r>
              <a:rPr lang="en-US" dirty="0" smtClean="0">
                <a:latin typeface="Times New Roman" pitchFamily="18" charset="0"/>
                <a:cs typeface="Times New Roman" pitchFamily="18" charset="0"/>
              </a:rPr>
              <a:t>:</a:t>
            </a:r>
          </a:p>
          <a:p>
            <a:pPr marL="285750" indent="-285750" algn="just">
              <a:lnSpc>
                <a:spcPct val="114000"/>
              </a:lnSpc>
              <a:buFont typeface="Arial" pitchFamily="34" charset="0"/>
              <a:buChar char="•"/>
            </a:pPr>
            <a:r>
              <a:rPr lang="en-US" dirty="0">
                <a:latin typeface="Times New Roman" pitchFamily="18" charset="0"/>
                <a:cs typeface="Times New Roman" pitchFamily="18" charset="0"/>
              </a:rPr>
              <a:t>Initially, we mistakenly analyzed data from a previously published study. To resolve this, we identified a solution by intersecting data from three raw count papers using Excel, ensuring the accuracy and originality of our analysis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41868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413" y="189447"/>
            <a:ext cx="7553448" cy="1068779"/>
          </a:xfrm>
        </p:spPr>
        <p:txBody>
          <a:bodyPr>
            <a:noAutofit/>
          </a:bodyPr>
          <a:lstStyle/>
          <a:p>
            <a:pPr algn="ctr"/>
            <a:r>
              <a:rPr lang="en-US" sz="4000" dirty="0" smtClean="0">
                <a:latin typeface="Times New Roman" pitchFamily="18" charset="0"/>
                <a:cs typeface="Times New Roman" pitchFamily="18" charset="0"/>
              </a:rPr>
              <a:t>DISEASE ANALYSIS USING R</a:t>
            </a:r>
            <a:endParaRPr lang="en-US" sz="4000" dirty="0">
              <a:latin typeface="Times New Roman" pitchFamily="18" charset="0"/>
              <a:cs typeface="Times New Roman" pitchFamily="18" charset="0"/>
            </a:endParaRPr>
          </a:p>
        </p:txBody>
      </p:sp>
      <p:sp>
        <p:nvSpPr>
          <p:cNvPr id="3" name="TextBox 2"/>
          <p:cNvSpPr txBox="1"/>
          <p:nvPr/>
        </p:nvSpPr>
        <p:spPr>
          <a:xfrm>
            <a:off x="1471613" y="1771650"/>
            <a:ext cx="184731" cy="369332"/>
          </a:xfrm>
          <a:prstGeom prst="rect">
            <a:avLst/>
          </a:prstGeom>
          <a:noFill/>
        </p:spPr>
        <p:txBody>
          <a:bodyPr wrap="none" rtlCol="0">
            <a:spAutoFit/>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496488406"/>
              </p:ext>
            </p:extLst>
          </p:nvPr>
        </p:nvGraphicFramePr>
        <p:xfrm>
          <a:off x="1000124" y="2400297"/>
          <a:ext cx="6915150" cy="1758437"/>
        </p:xfrm>
        <a:graphic>
          <a:graphicData uri="http://schemas.openxmlformats.org/drawingml/2006/table">
            <a:tbl>
              <a:tblPr firstRow="1" firstCol="1" bandRow="1">
                <a:tableStyleId>{5C22544A-7EE6-4342-B048-85BDC9FD1C3A}</a:tableStyleId>
              </a:tblPr>
              <a:tblGrid>
                <a:gridCol w="611305"/>
                <a:gridCol w="2227484"/>
                <a:gridCol w="2121234"/>
                <a:gridCol w="1955127"/>
              </a:tblGrid>
              <a:tr h="319753">
                <a:tc>
                  <a:txBody>
                    <a:bodyPr/>
                    <a:lstStyle/>
                    <a:p>
                      <a:pPr algn="ctr">
                        <a:lnSpc>
                          <a:spcPct val="115000"/>
                        </a:lnSpc>
                        <a:spcAft>
                          <a:spcPts val="0"/>
                        </a:spcAft>
                      </a:pPr>
                      <a:r>
                        <a:rPr lang="en-US" sz="1200" dirty="0">
                          <a:effectLst/>
                        </a:rPr>
                        <a:t>S.NO</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ACCESSION ID</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CONTROL</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a:effectLst/>
                        </a:rPr>
                        <a:t>DISEASED</a:t>
                      </a:r>
                      <a:endParaRPr lang="en-IN" sz="1100">
                        <a:effectLst/>
                        <a:latin typeface="Calibri"/>
                        <a:ea typeface="Calibri"/>
                        <a:cs typeface="Times New Roman"/>
                      </a:endParaRPr>
                    </a:p>
                  </a:txBody>
                  <a:tcPr marL="68580" marR="68580" marT="0" marB="0" anchor="ctr"/>
                </a:tc>
              </a:tr>
              <a:tr h="372977">
                <a:tc>
                  <a:txBody>
                    <a:bodyPr/>
                    <a:lstStyle/>
                    <a:p>
                      <a:pPr algn="ctr">
                        <a:lnSpc>
                          <a:spcPct val="115000"/>
                        </a:lnSpc>
                        <a:spcAft>
                          <a:spcPts val="0"/>
                        </a:spcAft>
                      </a:pPr>
                      <a:r>
                        <a:rPr lang="en-US" sz="1400">
                          <a:effectLst/>
                        </a:rPr>
                        <a:t>1</a:t>
                      </a:r>
                      <a:endParaRPr lang="en-IN"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GSE164416</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16</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a:effectLst/>
                        </a:rPr>
                        <a:t>41</a:t>
                      </a:r>
                      <a:endParaRPr lang="en-IN" sz="1100">
                        <a:effectLst/>
                        <a:latin typeface="Calibri"/>
                        <a:ea typeface="Calibri"/>
                        <a:cs typeface="Times New Roman"/>
                      </a:endParaRPr>
                    </a:p>
                  </a:txBody>
                  <a:tcPr marL="68580" marR="68580" marT="0" marB="0" anchor="ctr"/>
                </a:tc>
              </a:tr>
              <a:tr h="372977">
                <a:tc>
                  <a:txBody>
                    <a:bodyPr/>
                    <a:lstStyle/>
                    <a:p>
                      <a:pPr algn="ctr">
                        <a:lnSpc>
                          <a:spcPct val="115000"/>
                        </a:lnSpc>
                        <a:spcAft>
                          <a:spcPts val="0"/>
                        </a:spcAft>
                      </a:pPr>
                      <a:r>
                        <a:rPr lang="en-US" sz="1400">
                          <a:effectLst/>
                        </a:rPr>
                        <a:t>2</a:t>
                      </a:r>
                      <a:endParaRPr lang="en-IN"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GSE228662</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400" dirty="0">
                          <a:effectLst/>
                        </a:rPr>
                        <a:t>0</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400">
                          <a:effectLst/>
                        </a:rPr>
                        <a:t>67</a:t>
                      </a:r>
                      <a:endParaRPr lang="en-IN" sz="1100">
                        <a:effectLst/>
                        <a:latin typeface="Calibri"/>
                        <a:ea typeface="Calibri"/>
                        <a:cs typeface="Times New Roman"/>
                      </a:endParaRPr>
                    </a:p>
                  </a:txBody>
                  <a:tcPr marL="68580" marR="68580" marT="0" marB="0" anchor="ctr"/>
                </a:tc>
              </a:tr>
              <a:tr h="372977">
                <a:tc>
                  <a:txBody>
                    <a:bodyPr/>
                    <a:lstStyle/>
                    <a:p>
                      <a:pPr algn="ctr">
                        <a:lnSpc>
                          <a:spcPct val="115000"/>
                        </a:lnSpc>
                        <a:spcAft>
                          <a:spcPts val="0"/>
                        </a:spcAft>
                      </a:pPr>
                      <a:r>
                        <a:rPr lang="en-US" sz="1400">
                          <a:effectLst/>
                        </a:rPr>
                        <a:t>3</a:t>
                      </a:r>
                      <a:endParaRPr lang="en-IN"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GSE198922</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56</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74</a:t>
                      </a:r>
                      <a:endParaRPr lang="en-IN" sz="1100" dirty="0">
                        <a:effectLst/>
                        <a:latin typeface="Calibri"/>
                        <a:ea typeface="Calibri"/>
                        <a:cs typeface="Times New Roman"/>
                      </a:endParaRPr>
                    </a:p>
                  </a:txBody>
                  <a:tcPr marL="68580" marR="68580" marT="0" marB="0" anchor="ctr"/>
                </a:tc>
              </a:tr>
              <a:tr h="319753">
                <a:tc>
                  <a:txBody>
                    <a:bodyPr/>
                    <a:lstStyle/>
                    <a:p>
                      <a:pPr algn="ctr">
                        <a:lnSpc>
                          <a:spcPct val="115000"/>
                        </a:lnSpc>
                        <a:spcAft>
                          <a:spcPts val="0"/>
                        </a:spcAft>
                      </a:pPr>
                      <a:r>
                        <a:rPr lang="en-US" sz="1200">
                          <a:effectLst/>
                        </a:rPr>
                        <a:t>4</a:t>
                      </a:r>
                      <a:endParaRPr lang="en-IN"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a:effectLst/>
                        </a:rPr>
                        <a:t>PROCESSED SAMPLES</a:t>
                      </a:r>
                      <a:endParaRPr lang="en-IN"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74</a:t>
                      </a:r>
                      <a:endParaRPr lang="en-IN"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200" dirty="0">
                          <a:effectLst/>
                        </a:rPr>
                        <a:t>180</a:t>
                      </a:r>
                      <a:endParaRPr lang="en-IN" sz="1100" dirty="0">
                        <a:effectLst/>
                        <a:latin typeface="Calibri"/>
                        <a:ea typeface="Calibri"/>
                        <a:cs typeface="Times New Roman"/>
                      </a:endParaRPr>
                    </a:p>
                  </a:txBody>
                  <a:tcPr marL="68580" marR="68580" marT="0" marB="0" anchor="ctr"/>
                </a:tc>
              </a:tr>
            </a:tbl>
          </a:graphicData>
        </a:graphic>
      </p:graphicFrame>
      <p:sp>
        <p:nvSpPr>
          <p:cNvPr id="7" name="Rectangle 6"/>
          <p:cNvSpPr/>
          <p:nvPr/>
        </p:nvSpPr>
        <p:spPr>
          <a:xfrm>
            <a:off x="1000124" y="1309985"/>
            <a:ext cx="6869712" cy="923330"/>
          </a:xfrm>
          <a:prstGeom prst="rect">
            <a:avLst/>
          </a:prstGeom>
        </p:spPr>
        <p:txBody>
          <a:bodyPr wrap="square">
            <a:spAutoFit/>
          </a:bodyPr>
          <a:lstStyle/>
          <a:p>
            <a:pPr algn="just"/>
            <a:r>
              <a:rPr lang="en-US" dirty="0" smtClean="0"/>
              <a:t>The raw </a:t>
            </a:r>
            <a:r>
              <a:rPr lang="en-US" dirty="0"/>
              <a:t>data obtained from GEO are further assessed to evaluate the quality of genes. After combining datasets, we extracted 24,159 common genes from the above datasets. </a:t>
            </a:r>
            <a:endParaRPr lang="en-IN" dirty="0"/>
          </a:p>
        </p:txBody>
      </p:sp>
      <p:sp>
        <p:nvSpPr>
          <p:cNvPr id="8" name="Rectangle 7"/>
          <p:cNvSpPr/>
          <p:nvPr/>
        </p:nvSpPr>
        <p:spPr>
          <a:xfrm>
            <a:off x="963602" y="4492885"/>
            <a:ext cx="3736984" cy="369332"/>
          </a:xfrm>
          <a:prstGeom prst="rect">
            <a:avLst/>
          </a:prstGeom>
        </p:spPr>
        <p:txBody>
          <a:bodyPr wrap="none">
            <a:spAutoFit/>
          </a:bodyPr>
          <a:lstStyle/>
          <a:p>
            <a:pPr algn="ctr"/>
            <a:r>
              <a:rPr lang="en-US" u="sng" dirty="0">
                <a:latin typeface="Times New Roman" pitchFamily="18" charset="0"/>
                <a:cs typeface="Times New Roman" pitchFamily="18" charset="0"/>
              </a:rPr>
              <a:t>DEG  Analysis using R-programming:</a:t>
            </a:r>
            <a:endParaRPr lang="en-IN" u="sng" dirty="0">
              <a:latin typeface="Times New Roman" pitchFamily="18" charset="0"/>
              <a:cs typeface="Times New Roman" pitchFamily="18" charset="0"/>
            </a:endParaRPr>
          </a:p>
        </p:txBody>
      </p:sp>
      <p:sp>
        <p:nvSpPr>
          <p:cNvPr id="9" name="Rectangle 8"/>
          <p:cNvSpPr/>
          <p:nvPr/>
        </p:nvSpPr>
        <p:spPr>
          <a:xfrm>
            <a:off x="764499" y="4987148"/>
            <a:ext cx="7550826" cy="923330"/>
          </a:xfrm>
          <a:prstGeom prst="rect">
            <a:avLst/>
          </a:prstGeom>
        </p:spPr>
        <p:txBody>
          <a:bodyPr wrap="square">
            <a:spAutoFit/>
          </a:bodyPr>
          <a:lstStyle/>
          <a:p>
            <a:pPr marL="269875"/>
            <a:r>
              <a:rPr lang="en-US" dirty="0"/>
              <a:t>Normalization &amp; Scaling</a:t>
            </a:r>
          </a:p>
          <a:p>
            <a:pPr marL="800100" lvl="1" indent="-342900">
              <a:buFont typeface="Arial" pitchFamily="34" charset="0"/>
              <a:buChar char="•"/>
            </a:pPr>
            <a:r>
              <a:rPr lang="en-US" dirty="0"/>
              <a:t>Preventing domination of genes with high expression.</a:t>
            </a:r>
          </a:p>
          <a:p>
            <a:pPr marL="800100" lvl="1" indent="-342900">
              <a:buFont typeface="Arial" pitchFamily="34" charset="0"/>
              <a:buChar char="•"/>
            </a:pPr>
            <a:r>
              <a:rPr lang="en-US" dirty="0"/>
              <a:t>Scaling is same as normalization.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542926" y="458451"/>
            <a:ext cx="7758112" cy="3727787"/>
          </a:xfrm>
          <a:prstGeom prst="rect">
            <a:avLst/>
          </a:prstGeom>
        </p:spPr>
      </p:pic>
      <p:sp>
        <p:nvSpPr>
          <p:cNvPr id="3" name="Rectangle 2"/>
          <p:cNvSpPr/>
          <p:nvPr/>
        </p:nvSpPr>
        <p:spPr>
          <a:xfrm>
            <a:off x="3646298" y="4187310"/>
            <a:ext cx="1851404" cy="369332"/>
          </a:xfrm>
          <a:prstGeom prst="rect">
            <a:avLst/>
          </a:prstGeom>
        </p:spPr>
        <p:txBody>
          <a:bodyPr wrap="none">
            <a:spAutoFit/>
          </a:bodyPr>
          <a:lstStyle/>
          <a:p>
            <a:r>
              <a:rPr lang="en-US" b="1" dirty="0"/>
              <a:t>Fig 1 </a:t>
            </a:r>
            <a:r>
              <a:rPr lang="en-US" dirty="0">
                <a:latin typeface="Times New Roman" pitchFamily="18" charset="0"/>
                <a:cs typeface="Times New Roman" pitchFamily="18" charset="0"/>
              </a:rPr>
              <a:t>Volcano plot</a:t>
            </a:r>
            <a:endParaRPr lang="en-IN" dirty="0">
              <a:latin typeface="Times New Roman" pitchFamily="18" charset="0"/>
              <a:cs typeface="Times New Roman" pitchFamily="18" charset="0"/>
            </a:endParaRPr>
          </a:p>
        </p:txBody>
      </p:sp>
      <p:sp>
        <p:nvSpPr>
          <p:cNvPr id="4" name="Rectangle 3"/>
          <p:cNvSpPr/>
          <p:nvPr/>
        </p:nvSpPr>
        <p:spPr>
          <a:xfrm>
            <a:off x="884332" y="4728092"/>
            <a:ext cx="7375336" cy="1200329"/>
          </a:xfrm>
          <a:prstGeom prst="rect">
            <a:avLst/>
          </a:prstGeom>
        </p:spPr>
        <p:txBody>
          <a:bodyPr wrap="square">
            <a:spAutoFit/>
          </a:bodyPr>
          <a:lstStyle/>
          <a:p>
            <a:pPr algn="just"/>
            <a:r>
              <a:rPr lang="en-US" dirty="0">
                <a:latin typeface="Times New Roman" pitchFamily="18" charset="0"/>
                <a:cs typeface="Times New Roman" pitchFamily="18" charset="0"/>
              </a:rPr>
              <a:t>Fig </a:t>
            </a:r>
            <a:r>
              <a:rPr lang="en-US" dirty="0" smtClean="0">
                <a:latin typeface="Times New Roman" pitchFamily="18" charset="0"/>
                <a:cs typeface="Times New Roman" pitchFamily="18" charset="0"/>
              </a:rPr>
              <a:t>1 </a:t>
            </a:r>
            <a:r>
              <a:rPr lang="en-US" dirty="0">
                <a:latin typeface="Times New Roman" pitchFamily="18" charset="0"/>
                <a:cs typeface="Times New Roman" pitchFamily="18" charset="0"/>
              </a:rPr>
              <a:t>represents Volcano plot of highly expressed genes in the samples. This shows the values of -log10 P and log2foldchange. Red color denotes the up-regulated genes whereas green </a:t>
            </a:r>
            <a:r>
              <a:rPr lang="en-US" dirty="0" smtClean="0">
                <a:latin typeface="Times New Roman" pitchFamily="18" charset="0"/>
                <a:cs typeface="Times New Roman" pitchFamily="18" charset="0"/>
              </a:rPr>
              <a:t>color </a:t>
            </a:r>
            <a:r>
              <a:rPr lang="en-US" dirty="0">
                <a:latin typeface="Times New Roman" pitchFamily="18" charset="0"/>
                <a:cs typeface="Times New Roman" pitchFamily="18" charset="0"/>
              </a:rPr>
              <a:t>denotes down-regulated genes. The default line can be adjusted according to the p value.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6338586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929566" y="14990"/>
            <a:ext cx="7094855" cy="4517391"/>
          </a:xfrm>
          <a:prstGeom prst="rect">
            <a:avLst/>
          </a:prstGeom>
        </p:spPr>
      </p:pic>
      <p:sp>
        <p:nvSpPr>
          <p:cNvPr id="3" name="Rectangle 2"/>
          <p:cNvSpPr/>
          <p:nvPr/>
        </p:nvSpPr>
        <p:spPr>
          <a:xfrm>
            <a:off x="846467" y="5058846"/>
            <a:ext cx="7712917" cy="1200329"/>
          </a:xfrm>
          <a:prstGeom prst="rect">
            <a:avLst/>
          </a:prstGeom>
        </p:spPr>
        <p:txBody>
          <a:bodyPr wrap="square">
            <a:spAutoFit/>
          </a:bodyPr>
          <a:lstStyle/>
          <a:p>
            <a:pPr algn="just"/>
            <a:r>
              <a:rPr lang="en-US" dirty="0" err="1">
                <a:latin typeface="Times New Roman" pitchFamily="18" charset="0"/>
                <a:cs typeface="Times New Roman" pitchFamily="18" charset="0"/>
              </a:rPr>
              <a:t>Heatmap</a:t>
            </a:r>
            <a:r>
              <a:rPr lang="en-US" dirty="0">
                <a:latin typeface="Times New Roman" pitchFamily="18" charset="0"/>
                <a:cs typeface="Times New Roman" pitchFamily="18" charset="0"/>
              </a:rPr>
              <a:t> depicts the variance of differentially expressed genes in different samples</a:t>
            </a:r>
            <a:r>
              <a:rPr lang="en-US" dirty="0" smtClean="0">
                <a:latin typeface="Times New Roman" pitchFamily="18" charset="0"/>
                <a:cs typeface="Times New Roman" pitchFamily="18" charset="0"/>
              </a:rPr>
              <a:t>. This </a:t>
            </a:r>
            <a:r>
              <a:rPr lang="en-US" dirty="0">
                <a:latin typeface="Times New Roman" pitchFamily="18" charset="0"/>
                <a:cs typeface="Times New Roman" pitchFamily="18" charset="0"/>
              </a:rPr>
              <a:t>plot contains 20 genes. </a:t>
            </a:r>
            <a:r>
              <a:rPr lang="en-US" dirty="0" smtClean="0">
                <a:latin typeface="Times New Roman" pitchFamily="18" charset="0"/>
                <a:cs typeface="Times New Roman" pitchFamily="18" charset="0"/>
              </a:rPr>
              <a:t>Diseased </a:t>
            </a:r>
            <a:r>
              <a:rPr lang="en-US" dirty="0">
                <a:latin typeface="Times New Roman" pitchFamily="18" charset="0"/>
                <a:cs typeface="Times New Roman" pitchFamily="18" charset="0"/>
              </a:rPr>
              <a:t>genes are denoted by dark orange to red color while control or healthy genes denoted as blue. The variation among these 20 genes helps to analyze the differentially expressed genes</a:t>
            </a:r>
            <a:r>
              <a:rPr lang="en-US" dirty="0"/>
              <a:t>.</a:t>
            </a:r>
            <a:endParaRPr lang="en-IN" dirty="0"/>
          </a:p>
        </p:txBody>
      </p:sp>
      <p:sp>
        <p:nvSpPr>
          <p:cNvPr id="4" name="Rectangle 3"/>
          <p:cNvSpPr/>
          <p:nvPr/>
        </p:nvSpPr>
        <p:spPr>
          <a:xfrm>
            <a:off x="3461078" y="4544221"/>
            <a:ext cx="1627369" cy="369332"/>
          </a:xfrm>
          <a:prstGeom prst="rect">
            <a:avLst/>
          </a:prstGeom>
        </p:spPr>
        <p:txBody>
          <a:bodyPr wrap="none">
            <a:spAutoFit/>
          </a:bodyPr>
          <a:lstStyle/>
          <a:p>
            <a:r>
              <a:rPr lang="en-US" b="1" dirty="0">
                <a:latin typeface="Times New Roman" pitchFamily="18" charset="0"/>
                <a:cs typeface="Times New Roman" pitchFamily="18" charset="0"/>
              </a:rPr>
              <a:t>Fig 2 </a:t>
            </a:r>
            <a:r>
              <a:rPr lang="en-US" dirty="0" err="1">
                <a:latin typeface="Times New Roman" pitchFamily="18" charset="0"/>
                <a:cs typeface="Times New Roman" pitchFamily="18" charset="0"/>
              </a:rPr>
              <a:t>Heatmap</a:t>
            </a:r>
            <a:r>
              <a:rPr lang="en-US" dirty="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9153011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t="14696"/>
          <a:stretch/>
        </p:blipFill>
        <p:spPr bwMode="auto">
          <a:xfrm>
            <a:off x="714375" y="426483"/>
            <a:ext cx="7929563" cy="3886200"/>
          </a:xfrm>
          <a:prstGeom prst="rect">
            <a:avLst/>
          </a:prstGeom>
          <a:ln>
            <a:noFill/>
          </a:ln>
          <a:extLst>
            <a:ext uri="{53640926-AAD7-44D8-BBD7-CCE9431645EC}">
              <a14:shadowObscured xmlns:a14="http://schemas.microsoft.com/office/drawing/2010/main"/>
            </a:ext>
          </a:extLst>
        </p:spPr>
      </p:pic>
      <p:sp>
        <p:nvSpPr>
          <p:cNvPr id="3" name="Rectangle 2"/>
          <p:cNvSpPr/>
          <p:nvPr/>
        </p:nvSpPr>
        <p:spPr>
          <a:xfrm>
            <a:off x="3770718" y="4128017"/>
            <a:ext cx="1730025" cy="369332"/>
          </a:xfrm>
          <a:prstGeom prst="rect">
            <a:avLst/>
          </a:prstGeom>
        </p:spPr>
        <p:txBody>
          <a:bodyPr wrap="none">
            <a:spAutoFit/>
          </a:bodyPr>
          <a:lstStyle/>
          <a:p>
            <a:pPr algn="ctr"/>
            <a:r>
              <a:rPr lang="en-US" b="1" dirty="0">
                <a:latin typeface="Times New Roman" pitchFamily="18" charset="0"/>
                <a:cs typeface="Times New Roman" pitchFamily="18" charset="0"/>
              </a:rPr>
              <a:t>Fig 3 </a:t>
            </a:r>
            <a:r>
              <a:rPr lang="en-US" dirty="0">
                <a:latin typeface="Times New Roman" pitchFamily="18" charset="0"/>
                <a:cs typeface="Times New Roman" pitchFamily="18" charset="0"/>
              </a:rPr>
              <a:t>MA PLOT</a:t>
            </a:r>
            <a:endParaRPr lang="en-IN" dirty="0">
              <a:latin typeface="Times New Roman" pitchFamily="18" charset="0"/>
              <a:cs typeface="Times New Roman" pitchFamily="18" charset="0"/>
            </a:endParaRPr>
          </a:p>
        </p:txBody>
      </p:sp>
      <p:sp>
        <p:nvSpPr>
          <p:cNvPr id="4" name="Rectangle 3"/>
          <p:cNvSpPr/>
          <p:nvPr/>
        </p:nvSpPr>
        <p:spPr>
          <a:xfrm>
            <a:off x="1157342" y="4610666"/>
            <a:ext cx="7400925" cy="1477328"/>
          </a:xfrm>
          <a:prstGeom prst="rect">
            <a:avLst/>
          </a:prstGeom>
        </p:spPr>
        <p:txBody>
          <a:bodyPr wrap="square">
            <a:spAutoFit/>
          </a:bodyPr>
          <a:lstStyle/>
          <a:p>
            <a:pPr algn="just"/>
            <a:r>
              <a:rPr lang="en-IN" dirty="0">
                <a:latin typeface="Times New Roman" pitchFamily="18" charset="0"/>
                <a:cs typeface="Times New Roman" pitchFamily="18" charset="0"/>
              </a:rPr>
              <a:t>MA plot can be used  to display a difference in expression patterns between samples. On the Y-axis , it shows the difference in expression of the clusters and on the X-axis, it shows the average contribution of the clusters. Each dot is a gene, and the genes that show the most differential expression are highlighted in blue and labelled. The rest are grey and unnamed.</a:t>
            </a:r>
          </a:p>
        </p:txBody>
      </p:sp>
    </p:spTree>
    <p:extLst>
      <p:ext uri="{BB962C8B-B14F-4D97-AF65-F5344CB8AC3E}">
        <p14:creationId xmlns:p14="http://schemas.microsoft.com/office/powerpoint/2010/main" val="22920644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9922" y="343971"/>
            <a:ext cx="3105337" cy="400110"/>
          </a:xfrm>
          <a:prstGeom prst="rect">
            <a:avLst/>
          </a:prstGeom>
        </p:spPr>
        <p:txBody>
          <a:bodyPr wrap="none">
            <a:spAutoFit/>
          </a:bodyPr>
          <a:lstStyle/>
          <a:p>
            <a:r>
              <a:rPr lang="en-US" sz="2000" dirty="0">
                <a:latin typeface="Times New Roman" pitchFamily="18" charset="0"/>
                <a:cs typeface="Times New Roman" pitchFamily="18" charset="0"/>
              </a:rPr>
              <a:t>MOLECULAR DOCKING:</a:t>
            </a:r>
            <a:endParaRPr lang="en-IN" sz="2000" dirty="0">
              <a:latin typeface="Times New Roman" pitchFamily="18" charset="0"/>
              <a:cs typeface="Times New Roman" pitchFamily="18" charset="0"/>
            </a:endParaRPr>
          </a:p>
        </p:txBody>
      </p:sp>
      <p:sp>
        <p:nvSpPr>
          <p:cNvPr id="3" name="Rectangle 2"/>
          <p:cNvSpPr/>
          <p:nvPr/>
        </p:nvSpPr>
        <p:spPr>
          <a:xfrm>
            <a:off x="752813" y="1011695"/>
            <a:ext cx="2387201" cy="369332"/>
          </a:xfrm>
          <a:prstGeom prst="rect">
            <a:avLst/>
          </a:prstGeom>
        </p:spPr>
        <p:txBody>
          <a:bodyPr wrap="square">
            <a:spAutoFit/>
          </a:bodyPr>
          <a:lstStyle/>
          <a:p>
            <a:r>
              <a:rPr lang="en-US" dirty="0">
                <a:latin typeface="Times New Roman" pitchFamily="18" charset="0"/>
                <a:cs typeface="Times New Roman" pitchFamily="18" charset="0"/>
              </a:rPr>
              <a:t>Ligand preparation:</a:t>
            </a:r>
            <a:endParaRPr lang="en-IN" dirty="0">
              <a:latin typeface="Times New Roman" pitchFamily="18" charset="0"/>
              <a:cs typeface="Times New Roman" pitchFamily="18" charset="0"/>
            </a:endParaRPr>
          </a:p>
        </p:txBody>
      </p:sp>
      <p:sp>
        <p:nvSpPr>
          <p:cNvPr id="4" name="Rectangle 3"/>
          <p:cNvSpPr/>
          <p:nvPr/>
        </p:nvSpPr>
        <p:spPr>
          <a:xfrm>
            <a:off x="1112807" y="1397174"/>
            <a:ext cx="7548113" cy="923330"/>
          </a:xfrm>
          <a:prstGeom prst="rect">
            <a:avLst/>
          </a:prstGeom>
        </p:spPr>
        <p:txBody>
          <a:bodyPr wrap="square">
            <a:spAutoFit/>
          </a:bodyPr>
          <a:lstStyle/>
          <a:p>
            <a:pPr algn="just"/>
            <a:r>
              <a:rPr lang="en-US" dirty="0">
                <a:latin typeface="Times New Roman" pitchFamily="18" charset="0"/>
                <a:cs typeface="Times New Roman" pitchFamily="18" charset="0"/>
              </a:rPr>
              <a:t>All the </a:t>
            </a:r>
            <a:r>
              <a:rPr lang="en-US" dirty="0" smtClean="0">
                <a:latin typeface="Times New Roman" pitchFamily="18" charset="0"/>
                <a:cs typeface="Times New Roman" pitchFamily="18" charset="0"/>
              </a:rPr>
              <a:t>plants </a:t>
            </a:r>
            <a:r>
              <a:rPr lang="en-US" dirty="0">
                <a:latin typeface="Times New Roman" pitchFamily="18" charset="0"/>
                <a:cs typeface="Times New Roman" pitchFamily="18" charset="0"/>
              </a:rPr>
              <a:t>were imported in IMPAT database to find the respective </a:t>
            </a:r>
            <a:r>
              <a:rPr lang="en-US" dirty="0" err="1">
                <a:latin typeface="Times New Roman" pitchFamily="18" charset="0"/>
                <a:cs typeface="Times New Roman" pitchFamily="18" charset="0"/>
              </a:rPr>
              <a:t>phytoconstituents</a:t>
            </a:r>
            <a:r>
              <a:rPr lang="en-US" dirty="0">
                <a:latin typeface="Times New Roman" pitchFamily="18" charset="0"/>
                <a:cs typeface="Times New Roman" pitchFamily="18" charset="0"/>
              </a:rPr>
              <a:t>. Among 1294 compounds only 44 </a:t>
            </a:r>
            <a:r>
              <a:rPr lang="en-US" dirty="0" err="1">
                <a:latin typeface="Times New Roman" pitchFamily="18" charset="0"/>
                <a:cs typeface="Times New Roman" pitchFamily="18" charset="0"/>
              </a:rPr>
              <a:t>phyto</a:t>
            </a:r>
            <a:r>
              <a:rPr lang="en-US" dirty="0">
                <a:latin typeface="Times New Roman" pitchFamily="18" charset="0"/>
                <a:cs typeface="Times New Roman" pitchFamily="18" charset="0"/>
              </a:rPr>
              <a:t>-constituents were selected by </a:t>
            </a:r>
            <a:r>
              <a:rPr lang="en-US" dirty="0" err="1">
                <a:latin typeface="Times New Roman" pitchFamily="18" charset="0"/>
                <a:cs typeface="Times New Roman" pitchFamily="18" charset="0"/>
              </a:rPr>
              <a:t>SwissADME</a:t>
            </a:r>
            <a:r>
              <a:rPr lang="en-US" dirty="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
        <p:nvSpPr>
          <p:cNvPr id="7" name="Rectangle 6"/>
          <p:cNvSpPr/>
          <p:nvPr/>
        </p:nvSpPr>
        <p:spPr>
          <a:xfrm>
            <a:off x="752813" y="2535538"/>
            <a:ext cx="7908107" cy="923330"/>
          </a:xfrm>
          <a:prstGeom prst="rect">
            <a:avLst/>
          </a:prstGeom>
        </p:spPr>
        <p:txBody>
          <a:bodyPr wrap="square">
            <a:spAutoFit/>
          </a:bodyPr>
          <a:lstStyle/>
          <a:p>
            <a:pPr algn="just"/>
            <a:r>
              <a:rPr lang="en-US" dirty="0">
                <a:latin typeface="Times New Roman" pitchFamily="18" charset="0"/>
                <a:cs typeface="Times New Roman" pitchFamily="18" charset="0"/>
              </a:rPr>
              <a:t>Protein preparation</a:t>
            </a:r>
            <a:r>
              <a:rPr lang="en-US"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From </a:t>
            </a:r>
            <a:r>
              <a:rPr lang="en-US" dirty="0">
                <a:latin typeface="Times New Roman" pitchFamily="18" charset="0"/>
                <a:cs typeface="Times New Roman" pitchFamily="18" charset="0"/>
              </a:rPr>
              <a:t>KEGG pathway and string analysis, one gene is highly expressed and linked with Diabetes Mellitus. (PDB ID- 6njs)</a:t>
            </a:r>
            <a:endParaRPr lang="en-IN" dirty="0">
              <a:latin typeface="Times New Roman" pitchFamily="18" charset="0"/>
              <a:cs typeface="Times New Roman"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017364095"/>
              </p:ext>
            </p:extLst>
          </p:nvPr>
        </p:nvGraphicFramePr>
        <p:xfrm>
          <a:off x="941758" y="3791098"/>
          <a:ext cx="7719162" cy="1431984"/>
        </p:xfrm>
        <a:graphic>
          <a:graphicData uri="http://schemas.openxmlformats.org/drawingml/2006/table">
            <a:tbl>
              <a:tblPr firstRow="1" firstCol="1" bandRow="1">
                <a:tableStyleId>{5C22544A-7EE6-4342-B048-85BDC9FD1C3A}</a:tableStyleId>
              </a:tblPr>
              <a:tblGrid>
                <a:gridCol w="1588146"/>
                <a:gridCol w="2365904"/>
                <a:gridCol w="3765112"/>
              </a:tblGrid>
              <a:tr h="592412">
                <a:tc>
                  <a:txBody>
                    <a:bodyPr/>
                    <a:lstStyle/>
                    <a:p>
                      <a:pPr indent="457200" algn="just"/>
                      <a:r>
                        <a:rPr lang="en-US" sz="1200" dirty="0">
                          <a:effectLst/>
                        </a:rPr>
                        <a:t>Gene</a:t>
                      </a:r>
                      <a:endParaRPr lang="en-IN" sz="1100" dirty="0">
                        <a:effectLst/>
                        <a:latin typeface="Calibri"/>
                        <a:ea typeface="Calibri"/>
                        <a:cs typeface="Times New Roman"/>
                      </a:endParaRPr>
                    </a:p>
                  </a:txBody>
                  <a:tcPr marL="68580" marR="68580" marT="0" marB="0" anchor="ctr"/>
                </a:tc>
                <a:tc>
                  <a:txBody>
                    <a:bodyPr/>
                    <a:lstStyle/>
                    <a:p>
                      <a:pPr indent="457200" algn="just"/>
                      <a:r>
                        <a:rPr lang="en-US" sz="1200" dirty="0" err="1">
                          <a:effectLst/>
                        </a:rPr>
                        <a:t>UniProt</a:t>
                      </a:r>
                      <a:r>
                        <a:rPr lang="en-US" sz="1200" dirty="0">
                          <a:effectLst/>
                        </a:rPr>
                        <a:t> ID</a:t>
                      </a:r>
                      <a:endParaRPr lang="en-IN" sz="1100" dirty="0">
                        <a:effectLst/>
                        <a:latin typeface="Calibri"/>
                        <a:ea typeface="Calibri"/>
                        <a:cs typeface="Times New Roman"/>
                      </a:endParaRPr>
                    </a:p>
                  </a:txBody>
                  <a:tcPr marL="68580" marR="68580" marT="0" marB="0" anchor="ctr"/>
                </a:tc>
                <a:tc>
                  <a:txBody>
                    <a:bodyPr/>
                    <a:lstStyle/>
                    <a:p>
                      <a:pPr indent="457200" algn="just"/>
                      <a:r>
                        <a:rPr lang="en-US" sz="1200">
                          <a:effectLst/>
                        </a:rPr>
                        <a:t>Protein name</a:t>
                      </a:r>
                      <a:endParaRPr lang="en-IN" sz="1100">
                        <a:effectLst/>
                        <a:latin typeface="Calibri"/>
                        <a:ea typeface="Calibri"/>
                        <a:cs typeface="Times New Roman"/>
                      </a:endParaRPr>
                    </a:p>
                  </a:txBody>
                  <a:tcPr marL="68580" marR="68580" marT="0" marB="0" anchor="ctr"/>
                </a:tc>
              </a:tr>
              <a:tr h="839572">
                <a:tc>
                  <a:txBody>
                    <a:bodyPr/>
                    <a:lstStyle/>
                    <a:p>
                      <a:pPr indent="457200" algn="just"/>
                      <a:r>
                        <a:rPr lang="en-US" sz="1200" dirty="0" smtClean="0">
                          <a:effectLst/>
                        </a:rPr>
                        <a:t>STAT3</a:t>
                      </a:r>
                      <a:endParaRPr lang="en-IN" sz="1100" dirty="0">
                        <a:effectLst/>
                        <a:latin typeface="Calibri"/>
                        <a:ea typeface="Calibri"/>
                        <a:cs typeface="Times New Roman"/>
                      </a:endParaRPr>
                    </a:p>
                  </a:txBody>
                  <a:tcPr marL="68580" marR="68580" marT="0" marB="0" anchor="ctr"/>
                </a:tc>
                <a:tc>
                  <a:txBody>
                    <a:bodyPr/>
                    <a:lstStyle/>
                    <a:p>
                      <a:pPr indent="457200" algn="just"/>
                      <a:r>
                        <a:rPr lang="en-US" sz="1200" dirty="0">
                          <a:effectLst/>
                        </a:rPr>
                        <a:t>P40763</a:t>
                      </a:r>
                      <a:endParaRPr lang="en-IN" sz="1100" dirty="0">
                        <a:effectLst/>
                        <a:latin typeface="Calibri"/>
                        <a:ea typeface="Calibri"/>
                        <a:cs typeface="Times New Roman"/>
                      </a:endParaRPr>
                    </a:p>
                  </a:txBody>
                  <a:tcPr marL="68580" marR="68580" marT="0" marB="0" anchor="ctr"/>
                </a:tc>
                <a:tc>
                  <a:txBody>
                    <a:bodyPr/>
                    <a:lstStyle/>
                    <a:p>
                      <a:pPr indent="457200" algn="just"/>
                      <a:r>
                        <a:rPr lang="en-IN" sz="1200" dirty="0">
                          <a:effectLst/>
                        </a:rPr>
                        <a:t>Signal transducer and activator of transcription 3</a:t>
                      </a:r>
                      <a:endParaRPr lang="en-IN" sz="1100" dirty="0">
                        <a:effectLst/>
                        <a:latin typeface="Calibri"/>
                        <a:ea typeface="Calibri"/>
                        <a:cs typeface="Times New Roman"/>
                      </a:endParaRPr>
                    </a:p>
                  </a:txBody>
                  <a:tcPr marL="68580" marR="68580" marT="0" marB="0" anchor="ctr"/>
                </a:tc>
              </a:tr>
            </a:tbl>
          </a:graphicData>
        </a:graphic>
      </p:graphicFrame>
    </p:spTree>
    <p:extLst>
      <p:ext uri="{BB962C8B-B14F-4D97-AF65-F5344CB8AC3E}">
        <p14:creationId xmlns:p14="http://schemas.microsoft.com/office/powerpoint/2010/main" val="5755344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r="37687"/>
          <a:stretch/>
        </p:blipFill>
        <p:spPr>
          <a:xfrm>
            <a:off x="2545308" y="362174"/>
            <a:ext cx="4410128" cy="3250456"/>
          </a:xfrm>
          <a:prstGeom prst="rect">
            <a:avLst/>
          </a:prstGeom>
        </p:spPr>
      </p:pic>
      <p:sp>
        <p:nvSpPr>
          <p:cNvPr id="3" name="Rectangle 2"/>
          <p:cNvSpPr/>
          <p:nvPr/>
        </p:nvSpPr>
        <p:spPr>
          <a:xfrm>
            <a:off x="1116767" y="4395627"/>
            <a:ext cx="6858000" cy="1477328"/>
          </a:xfrm>
          <a:prstGeom prst="rect">
            <a:avLst/>
          </a:prstGeom>
        </p:spPr>
        <p:txBody>
          <a:bodyPr wrap="square">
            <a:spAutoFit/>
          </a:bodyPr>
          <a:lstStyle/>
          <a:p>
            <a:pPr algn="ctr"/>
            <a:r>
              <a:rPr lang="en-US" b="1" dirty="0"/>
              <a:t>Fig 4   </a:t>
            </a:r>
            <a:r>
              <a:rPr lang="en-US" dirty="0"/>
              <a:t>String network </a:t>
            </a:r>
            <a:r>
              <a:rPr lang="en-US" dirty="0" smtClean="0"/>
              <a:t>analysis</a:t>
            </a:r>
          </a:p>
          <a:p>
            <a:pPr algn="ctr"/>
            <a:endParaRPr lang="en-IN" dirty="0"/>
          </a:p>
          <a:p>
            <a:r>
              <a:rPr lang="en-US" dirty="0"/>
              <a:t>Protein-Protein interaction using String. Number of nodes: 5225, Number of edges:69809, Average local clustering coefficient:0.271, Number of  neighbors:27.290.</a:t>
            </a:r>
            <a:endParaRPr lang="en-IN" dirty="0"/>
          </a:p>
        </p:txBody>
      </p:sp>
    </p:spTree>
    <p:extLst>
      <p:ext uri="{BB962C8B-B14F-4D97-AF65-F5344CB8AC3E}">
        <p14:creationId xmlns:p14="http://schemas.microsoft.com/office/powerpoint/2010/main" val="2947048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63" y="450850"/>
            <a:ext cx="9031287" cy="596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0322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dmin\Downloads\string_hires_image (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98" y="0"/>
            <a:ext cx="9080501" cy="69945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349829" y="6023429"/>
            <a:ext cx="3951916" cy="369332"/>
          </a:xfrm>
          <a:prstGeom prst="rect">
            <a:avLst/>
          </a:prstGeom>
          <a:noFill/>
        </p:spPr>
        <p:txBody>
          <a:bodyPr wrap="none" rtlCol="0">
            <a:spAutoFit/>
          </a:bodyPr>
          <a:lstStyle/>
          <a:p>
            <a:r>
              <a:rPr lang="en-US" dirty="0" smtClean="0"/>
              <a:t>FIG 5- String network analysis of STAT3   </a:t>
            </a:r>
            <a:endParaRPr lang="en-IN" dirty="0"/>
          </a:p>
        </p:txBody>
      </p:sp>
      <p:sp>
        <p:nvSpPr>
          <p:cNvPr id="3" name="TextBox 2"/>
          <p:cNvSpPr txBox="1"/>
          <p:nvPr/>
        </p:nvSpPr>
        <p:spPr>
          <a:xfrm>
            <a:off x="3325787" y="116115"/>
            <a:ext cx="5515429" cy="1077218"/>
          </a:xfrm>
          <a:prstGeom prst="rect">
            <a:avLst/>
          </a:prstGeom>
          <a:noFill/>
        </p:spPr>
        <p:txBody>
          <a:bodyPr wrap="square" rtlCol="0">
            <a:spAutoFit/>
          </a:bodyPr>
          <a:lstStyle/>
          <a:p>
            <a:pPr fontAlgn="t"/>
            <a:r>
              <a:rPr lang="en-US" sz="1600" dirty="0"/>
              <a:t>N</a:t>
            </a:r>
            <a:r>
              <a:rPr lang="en-US" sz="1600" dirty="0" smtClean="0"/>
              <a:t>umber </a:t>
            </a:r>
            <a:r>
              <a:rPr lang="en-US" sz="1600" dirty="0"/>
              <a:t>of </a:t>
            </a:r>
            <a:r>
              <a:rPr lang="en-US" sz="1600" dirty="0" smtClean="0"/>
              <a:t>nodes: 37</a:t>
            </a:r>
            <a:endParaRPr lang="en-US" sz="1600" dirty="0"/>
          </a:p>
          <a:p>
            <a:pPr fontAlgn="t"/>
            <a:r>
              <a:rPr lang="en-US" sz="1600" dirty="0"/>
              <a:t>N</a:t>
            </a:r>
            <a:r>
              <a:rPr lang="en-US" sz="1600" dirty="0" smtClean="0"/>
              <a:t>umber </a:t>
            </a:r>
            <a:r>
              <a:rPr lang="en-US" sz="1600" dirty="0"/>
              <a:t>of </a:t>
            </a:r>
            <a:r>
              <a:rPr lang="en-US" sz="1600" dirty="0" smtClean="0"/>
              <a:t>edges: 70</a:t>
            </a:r>
            <a:endParaRPr lang="en-US" sz="1600" dirty="0"/>
          </a:p>
          <a:p>
            <a:pPr fontAlgn="t"/>
            <a:r>
              <a:rPr lang="en-US" sz="1600" dirty="0"/>
              <a:t>A</a:t>
            </a:r>
            <a:r>
              <a:rPr lang="en-US" sz="1600" dirty="0" smtClean="0"/>
              <a:t>verage </a:t>
            </a:r>
            <a:r>
              <a:rPr lang="en-US" sz="1600" dirty="0"/>
              <a:t>node </a:t>
            </a:r>
            <a:r>
              <a:rPr lang="en-US" sz="1600" dirty="0" smtClean="0"/>
              <a:t>degree: 3.78</a:t>
            </a:r>
            <a:endParaRPr lang="en-US" sz="1600" dirty="0"/>
          </a:p>
          <a:p>
            <a:pPr fontAlgn="t"/>
            <a:r>
              <a:rPr lang="en-US" sz="1600" dirty="0"/>
              <a:t>A</a:t>
            </a:r>
            <a:r>
              <a:rPr lang="en-US" sz="1600" dirty="0" smtClean="0"/>
              <a:t>vg</a:t>
            </a:r>
            <a:r>
              <a:rPr lang="en-US" sz="1600" dirty="0"/>
              <a:t>. local clustering </a:t>
            </a:r>
            <a:r>
              <a:rPr lang="en-US" sz="1600" dirty="0" smtClean="0"/>
              <a:t>coefficient: 0.689</a:t>
            </a:r>
            <a:endParaRPr lang="en-US" sz="1600" dirty="0"/>
          </a:p>
        </p:txBody>
      </p:sp>
    </p:spTree>
    <p:extLst>
      <p:ext uri="{BB962C8B-B14F-4D97-AF65-F5344CB8AC3E}">
        <p14:creationId xmlns:p14="http://schemas.microsoft.com/office/powerpoint/2010/main" val="2947014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admin\Desktop\docking\insulin resistance kegg.png"/>
          <p:cNvPicPr/>
          <p:nvPr/>
        </p:nvPicPr>
        <p:blipFill rotWithShape="1">
          <a:blip r:embed="rId2" cstate="print">
            <a:extLst>
              <a:ext uri="{28A0092B-C50C-407E-A947-70E740481C1C}">
                <a14:useLocalDpi xmlns:a14="http://schemas.microsoft.com/office/drawing/2010/main" val="0"/>
              </a:ext>
            </a:extLst>
          </a:blip>
          <a:srcRect t="1" b="62522"/>
          <a:stretch/>
        </p:blipFill>
        <p:spPr bwMode="auto">
          <a:xfrm>
            <a:off x="357166" y="817900"/>
            <a:ext cx="8412079" cy="5373038"/>
          </a:xfrm>
          <a:prstGeom prst="rect">
            <a:avLst/>
          </a:prstGeom>
          <a:noFill/>
          <a:ln>
            <a:noFill/>
          </a:ln>
        </p:spPr>
      </p:pic>
      <p:sp>
        <p:nvSpPr>
          <p:cNvPr id="3" name="TextBox 2"/>
          <p:cNvSpPr txBox="1"/>
          <p:nvPr/>
        </p:nvSpPr>
        <p:spPr>
          <a:xfrm>
            <a:off x="2351314" y="6190938"/>
            <a:ext cx="4677691" cy="369332"/>
          </a:xfrm>
          <a:prstGeom prst="rect">
            <a:avLst/>
          </a:prstGeom>
          <a:noFill/>
        </p:spPr>
        <p:txBody>
          <a:bodyPr wrap="none" rtlCol="0">
            <a:spAutoFit/>
          </a:bodyPr>
          <a:lstStyle/>
          <a:p>
            <a:r>
              <a:rPr lang="en-US" dirty="0" smtClean="0"/>
              <a:t>FIG 6 KEGG pathway- Insulin resistance pathway</a:t>
            </a:r>
            <a:endParaRPr lang="en-IN" dirty="0"/>
          </a:p>
        </p:txBody>
      </p:sp>
      <p:cxnSp>
        <p:nvCxnSpPr>
          <p:cNvPr id="5" name="Straight Connector 4"/>
          <p:cNvCxnSpPr/>
          <p:nvPr/>
        </p:nvCxnSpPr>
        <p:spPr>
          <a:xfrm>
            <a:off x="357166" y="6190938"/>
            <a:ext cx="84120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63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49" y="223385"/>
            <a:ext cx="8755393" cy="3187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47" y="3410857"/>
            <a:ext cx="8755393" cy="2786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554514" y="6371771"/>
            <a:ext cx="3837461" cy="369332"/>
          </a:xfrm>
          <a:prstGeom prst="rect">
            <a:avLst/>
          </a:prstGeom>
          <a:noFill/>
        </p:spPr>
        <p:txBody>
          <a:bodyPr wrap="none" rtlCol="0">
            <a:spAutoFit/>
          </a:bodyPr>
          <a:lstStyle/>
          <a:p>
            <a:r>
              <a:rPr lang="en-US" dirty="0" smtClean="0"/>
              <a:t>Fig 7 Visualization of protein and ligand</a:t>
            </a:r>
            <a:endParaRPr lang="en-IN" dirty="0"/>
          </a:p>
        </p:txBody>
      </p:sp>
    </p:spTree>
    <p:extLst>
      <p:ext uri="{BB962C8B-B14F-4D97-AF65-F5344CB8AC3E}">
        <p14:creationId xmlns:p14="http://schemas.microsoft.com/office/powerpoint/2010/main" val="1338351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911" y="446961"/>
            <a:ext cx="1732440" cy="369332"/>
          </a:xfrm>
          <a:prstGeom prst="rect">
            <a:avLst/>
          </a:prstGeom>
        </p:spPr>
        <p:txBody>
          <a:bodyPr wrap="square">
            <a:spAutoFit/>
          </a:bodyPr>
          <a:lstStyle/>
          <a:p>
            <a:r>
              <a:rPr lang="en-US" dirty="0">
                <a:latin typeface="Times New Roman" pitchFamily="18" charset="0"/>
                <a:cs typeface="Times New Roman" pitchFamily="18" charset="0"/>
              </a:rPr>
              <a:t>Visualization:</a:t>
            </a:r>
            <a:endParaRPr lang="en-IN" dirty="0">
              <a:latin typeface="Times New Roman" pitchFamily="18" charset="0"/>
              <a:cs typeface="Times New Roman" pitchFamily="18" charset="0"/>
            </a:endParaRPr>
          </a:p>
        </p:txBody>
      </p:sp>
      <p:sp>
        <p:nvSpPr>
          <p:cNvPr id="3" name="Rectangle 2"/>
          <p:cNvSpPr/>
          <p:nvPr/>
        </p:nvSpPr>
        <p:spPr>
          <a:xfrm>
            <a:off x="836762" y="866823"/>
            <a:ext cx="5615796" cy="369332"/>
          </a:xfrm>
          <a:prstGeom prst="rect">
            <a:avLst/>
          </a:prstGeom>
        </p:spPr>
        <p:txBody>
          <a:bodyPr wrap="square">
            <a:spAutoFit/>
          </a:bodyPr>
          <a:lstStyle/>
          <a:p>
            <a:r>
              <a:rPr lang="en-US" dirty="0">
                <a:latin typeface="Times New Roman" pitchFamily="18" charset="0"/>
                <a:cs typeface="Times New Roman" pitchFamily="18" charset="0"/>
              </a:rPr>
              <a:t>Visualization of protein with ligand is done by </a:t>
            </a:r>
            <a:r>
              <a:rPr lang="en-US" dirty="0" err="1">
                <a:latin typeface="Times New Roman" pitchFamily="18" charset="0"/>
                <a:cs typeface="Times New Roman" pitchFamily="18" charset="0"/>
              </a:rPr>
              <a:t>pyMol</a:t>
            </a:r>
            <a:r>
              <a:rPr lang="en-US" dirty="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pic>
        <p:nvPicPr>
          <p:cNvPr id="4" name="Picture 3" descr="C:\Users\admin\Desktop\doc\6njs with ligand14.png"/>
          <p:cNvPicPr/>
          <p:nvPr/>
        </p:nvPicPr>
        <p:blipFill>
          <a:blip r:embed="rId2">
            <a:extLst>
              <a:ext uri="{28A0092B-C50C-407E-A947-70E740481C1C}">
                <a14:useLocalDpi xmlns:a14="http://schemas.microsoft.com/office/drawing/2010/main" val="0"/>
              </a:ext>
            </a:extLst>
          </a:blip>
          <a:srcRect/>
          <a:stretch>
            <a:fillRect/>
          </a:stretch>
        </p:blipFill>
        <p:spPr bwMode="auto">
          <a:xfrm>
            <a:off x="1549176" y="1483390"/>
            <a:ext cx="5731510" cy="2780030"/>
          </a:xfrm>
          <a:prstGeom prst="rect">
            <a:avLst/>
          </a:prstGeom>
          <a:noFill/>
          <a:ln>
            <a:noFill/>
          </a:ln>
        </p:spPr>
      </p:pic>
      <p:sp>
        <p:nvSpPr>
          <p:cNvPr id="5" name="Rectangle 4"/>
          <p:cNvSpPr/>
          <p:nvPr/>
        </p:nvSpPr>
        <p:spPr>
          <a:xfrm>
            <a:off x="2654162" y="4452032"/>
            <a:ext cx="3929281" cy="369332"/>
          </a:xfrm>
          <a:prstGeom prst="rect">
            <a:avLst/>
          </a:prstGeom>
        </p:spPr>
        <p:txBody>
          <a:bodyPr wrap="none">
            <a:spAutoFit/>
          </a:bodyPr>
          <a:lstStyle/>
          <a:p>
            <a:pPr algn="ctr"/>
            <a:r>
              <a:rPr lang="en-US" dirty="0" smtClean="0">
                <a:latin typeface="Times New Roman" pitchFamily="18" charset="0"/>
                <a:cs typeface="Times New Roman" pitchFamily="18" charset="0"/>
              </a:rPr>
              <a:t>FIG </a:t>
            </a:r>
            <a:r>
              <a:rPr lang="en-US" dirty="0">
                <a:latin typeface="Times New Roman" pitchFamily="18" charset="0"/>
                <a:cs typeface="Times New Roman" pitchFamily="18" charset="0"/>
              </a:rPr>
              <a:t>8</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Docking analysis using </a:t>
            </a:r>
            <a:r>
              <a:rPr lang="en-US" dirty="0" err="1">
                <a:latin typeface="Times New Roman" pitchFamily="18" charset="0"/>
                <a:cs typeface="Times New Roman" pitchFamily="18" charset="0"/>
              </a:rPr>
              <a:t>PyMOL</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2391837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3079" y="1103085"/>
            <a:ext cx="8350370" cy="3225435"/>
          </a:xfrm>
          <a:prstGeom prst="rect">
            <a:avLst/>
          </a:prstGeom>
        </p:spPr>
        <p:txBody>
          <a:bodyPr wrap="square">
            <a:spAutoFit/>
          </a:bodyPr>
          <a:lstStyle/>
          <a:p>
            <a:pPr algn="just">
              <a:lnSpc>
                <a:spcPct val="114000"/>
              </a:lnSpc>
            </a:pPr>
            <a:r>
              <a:rPr lang="en-IN" dirty="0">
                <a:latin typeface="Times New Roman" pitchFamily="18" charset="0"/>
                <a:cs typeface="Times New Roman" pitchFamily="18" charset="0"/>
              </a:rPr>
              <a:t>In the quest for effective treatments for diabetes mellitus, plant-based compounds offer promising potential due to their natural therapeutic </a:t>
            </a:r>
            <a:r>
              <a:rPr lang="en-IN" dirty="0" smtClean="0">
                <a:latin typeface="Times New Roman" pitchFamily="18" charset="0"/>
                <a:cs typeface="Times New Roman" pitchFamily="18" charset="0"/>
              </a:rPr>
              <a:t>properties. </a:t>
            </a:r>
            <a:r>
              <a:rPr lang="en-US" dirty="0">
                <a:latin typeface="Times New Roman" pitchFamily="18" charset="0"/>
                <a:cs typeface="Times New Roman" pitchFamily="18" charset="0"/>
              </a:rPr>
              <a:t>By leveraging tools like </a:t>
            </a:r>
            <a:r>
              <a:rPr lang="en-US" b="1" dirty="0">
                <a:latin typeface="Times New Roman" pitchFamily="18" charset="0"/>
                <a:cs typeface="Times New Roman" pitchFamily="18" charset="0"/>
              </a:rPr>
              <a:t>R-programming</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molecular docking</a:t>
            </a:r>
            <a:r>
              <a:rPr lang="en-US" dirty="0">
                <a:latin typeface="Times New Roman" pitchFamily="18" charset="0"/>
                <a:cs typeface="Times New Roman" pitchFamily="18" charset="0"/>
              </a:rPr>
              <a:t>, I successfully analyzed disease pathways, identified potential </a:t>
            </a:r>
            <a:r>
              <a:rPr lang="en-US" dirty="0" err="1">
                <a:latin typeface="Times New Roman" pitchFamily="18" charset="0"/>
                <a:cs typeface="Times New Roman" pitchFamily="18" charset="0"/>
              </a:rPr>
              <a:t>phyto</a:t>
            </a:r>
            <a:r>
              <a:rPr lang="en-US" dirty="0">
                <a:latin typeface="Times New Roman" pitchFamily="18" charset="0"/>
                <a:cs typeface="Times New Roman" pitchFamily="18" charset="0"/>
              </a:rPr>
              <a:t>-compounds, and explored their therapeutic potential through protein-ligand interactions. This hands-on exposure has strengthened my technical skills, enhanced my problem-solving abilities, and provided valuable insights into the integration of computational techniques with biological research.</a:t>
            </a:r>
            <a:r>
              <a:rPr lang="en-IN" dirty="0" smtClean="0">
                <a:latin typeface="Times New Roman" pitchFamily="18" charset="0"/>
                <a:cs typeface="Times New Roman" pitchFamily="18" charset="0"/>
              </a:rPr>
              <a:t> </a:t>
            </a:r>
            <a:r>
              <a:rPr lang="en-IN" dirty="0">
                <a:latin typeface="Times New Roman" pitchFamily="18" charset="0"/>
                <a:cs typeface="Times New Roman" pitchFamily="18" charset="0"/>
              </a:rPr>
              <a:t>The integration of docking studies with experimental validation could further establish its role in developing novel, plant-based therapeutics for diabetes mellitus, contributing to a more holistic and sustainable approach to diabetes treatment.</a:t>
            </a:r>
          </a:p>
        </p:txBody>
      </p:sp>
      <p:sp>
        <p:nvSpPr>
          <p:cNvPr id="4" name="TextBox 3"/>
          <p:cNvSpPr txBox="1"/>
          <p:nvPr/>
        </p:nvSpPr>
        <p:spPr>
          <a:xfrm>
            <a:off x="483079" y="480029"/>
            <a:ext cx="2501006" cy="523220"/>
          </a:xfrm>
          <a:prstGeom prst="rect">
            <a:avLst/>
          </a:prstGeom>
          <a:noFill/>
        </p:spPr>
        <p:txBody>
          <a:bodyPr wrap="none" rtlCol="0">
            <a:spAutoFit/>
          </a:bodyPr>
          <a:lstStyle/>
          <a:p>
            <a:r>
              <a:rPr lang="en-US" sz="2800" dirty="0" smtClean="0">
                <a:latin typeface="Times New Roman" pitchFamily="18" charset="0"/>
                <a:cs typeface="Times New Roman" pitchFamily="18" charset="0"/>
              </a:rPr>
              <a:t>CONCLUSION</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5773384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401</TotalTime>
  <Words>973</Words>
  <Application>Microsoft Office PowerPoint</Application>
  <PresentationFormat>On-screen Show (4:3)</PresentationFormat>
  <Paragraphs>87</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INFORMATION ABOUT THE COMPANY</vt:lpstr>
      <vt:lpstr>Role and Responsibilities as a Trainee</vt:lpstr>
      <vt:lpstr>OBJECTIVES</vt:lpstr>
      <vt:lpstr> Internship Reflections: Skills, Challenges </vt:lpstr>
      <vt:lpstr>DISEASE ANALYSIS USING 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Lingesh M</dc:creator>
  <cp:lastModifiedBy>admin</cp:lastModifiedBy>
  <cp:revision>35</cp:revision>
  <dcterms:created xsi:type="dcterms:W3CDTF">2024-11-11T18:09:37Z</dcterms:created>
  <dcterms:modified xsi:type="dcterms:W3CDTF">2024-11-14T07:43:04Z</dcterms:modified>
</cp:coreProperties>
</file>